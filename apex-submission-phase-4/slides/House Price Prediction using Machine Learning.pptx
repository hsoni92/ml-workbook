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Proxima Nova"/>
      <p:regular r:id="rId29"/>
      <p:bold r:id="rId30"/>
      <p:italic r:id="rId31"/>
      <p:boldItalic r:id="rId32"/>
    </p:embeddedFont>
    <p:embeddedFont>
      <p:font typeface="Urbanist Medium"/>
      <p:regular r:id="rId33"/>
      <p:bold r:id="rId34"/>
      <p:italic r:id="rId35"/>
      <p:boldItalic r:id="rId36"/>
    </p:embeddedFont>
    <p:embeddedFont>
      <p:font typeface="Urbanist"/>
      <p:regular r:id="rId37"/>
      <p:bold r:id="rId38"/>
      <p:italic r:id="rId39"/>
      <p:boldItalic r:id="rId40"/>
    </p:embeddedFont>
    <p:embeddedFont>
      <p:font typeface="Roboto Mon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909345-7536-4963-97A1-C47C0D06BAD6}">
  <a:tblStyle styleId="{A2909345-7536-4963-97A1-C47C0D06BA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Urbanist-boldItalic.fntdata"/><Relationship Id="rId20" Type="http://schemas.openxmlformats.org/officeDocument/2006/relationships/slide" Target="slides/slide14.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6.xml"/><Relationship Id="rId44" Type="http://schemas.openxmlformats.org/officeDocument/2006/relationships/font" Target="fonts/RobotoMono-boldItalic.fntdata"/><Relationship Id="rId21" Type="http://schemas.openxmlformats.org/officeDocument/2006/relationships/slide" Target="slides/slide15.xml"/><Relationship Id="rId43" Type="http://schemas.openxmlformats.org/officeDocument/2006/relationships/font" Target="fonts/RobotoMono-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roximaNova-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roximaNova-italic.fntdata"/><Relationship Id="rId30" Type="http://schemas.openxmlformats.org/officeDocument/2006/relationships/font" Target="fonts/ProximaNova-bold.fntdata"/><Relationship Id="rId11" Type="http://schemas.openxmlformats.org/officeDocument/2006/relationships/slide" Target="slides/slide5.xml"/><Relationship Id="rId33" Type="http://schemas.openxmlformats.org/officeDocument/2006/relationships/font" Target="fonts/UrbanistMedium-regular.fntdata"/><Relationship Id="rId10" Type="http://schemas.openxmlformats.org/officeDocument/2006/relationships/slide" Target="slides/slide4.xml"/><Relationship Id="rId32" Type="http://schemas.openxmlformats.org/officeDocument/2006/relationships/font" Target="fonts/ProximaNova-boldItalic.fntdata"/><Relationship Id="rId13" Type="http://schemas.openxmlformats.org/officeDocument/2006/relationships/slide" Target="slides/slide7.xml"/><Relationship Id="rId35" Type="http://schemas.openxmlformats.org/officeDocument/2006/relationships/font" Target="fonts/UrbanistMedium-italic.fntdata"/><Relationship Id="rId12" Type="http://schemas.openxmlformats.org/officeDocument/2006/relationships/slide" Target="slides/slide6.xml"/><Relationship Id="rId34" Type="http://schemas.openxmlformats.org/officeDocument/2006/relationships/font" Target="fonts/UrbanistMedium-bold.fntdata"/><Relationship Id="rId15" Type="http://schemas.openxmlformats.org/officeDocument/2006/relationships/slide" Target="slides/slide9.xml"/><Relationship Id="rId37" Type="http://schemas.openxmlformats.org/officeDocument/2006/relationships/font" Target="fonts/Urbanist-regular.fntdata"/><Relationship Id="rId14" Type="http://schemas.openxmlformats.org/officeDocument/2006/relationships/slide" Target="slides/slide8.xml"/><Relationship Id="rId36" Type="http://schemas.openxmlformats.org/officeDocument/2006/relationships/font" Target="fonts/UrbanistMedium-boldItalic.fntdata"/><Relationship Id="rId17" Type="http://schemas.openxmlformats.org/officeDocument/2006/relationships/slide" Target="slides/slide11.xml"/><Relationship Id="rId39" Type="http://schemas.openxmlformats.org/officeDocument/2006/relationships/font" Target="fonts/Urbanist-italic.fntdata"/><Relationship Id="rId16" Type="http://schemas.openxmlformats.org/officeDocument/2006/relationships/slide" Target="slides/slide10.xml"/><Relationship Id="rId38" Type="http://schemas.openxmlformats.org/officeDocument/2006/relationships/font" Target="fonts/Urbanis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9b8383fe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9b8383fe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a1e08d0d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a1e08d0d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9b8383fe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9b8383fe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9b8383fe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9b8383fe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a1e08d0d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a1e08d0d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a1e08d0d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a1e08d0d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9b8383fe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9b8383fe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a1e08d0d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a1e08d0d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a1e08d0d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a1e08d0d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a1e08d0d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a1e08d0d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a1e08d0d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a1e08d0d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a1e08d0d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a1e08d0d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a1e08d0d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a1e08d0d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a1e08d0d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a1e08d0d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a1e08d0d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a1e08d0d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a1e08d0d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a1e08d0d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a2fa542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a2fa542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a2fa5423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a2fa542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a1e08d0d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a1e08d0d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a1e08d0d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a1e08d0d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a1e08d0d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a1e08d0d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5" name="Shape 55"/>
        <p:cNvGrpSpPr/>
        <p:nvPr/>
      </p:nvGrpSpPr>
      <p:grpSpPr>
        <a:xfrm>
          <a:off x="0" y="0"/>
          <a:ext cx="0" cy="0"/>
          <a:chOff x="0" y="0"/>
          <a:chExt cx="0" cy="0"/>
        </a:xfrm>
      </p:grpSpPr>
      <p:pic>
        <p:nvPicPr>
          <p:cNvPr id="56" name="Google Shape;56;p13"/>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57" name="Google Shape;57;p13"/>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8" name="Google Shape;58;p13"/>
          <p:cNvSpPr txBox="1"/>
          <p:nvPr>
            <p:ph idx="1" type="subTitle"/>
          </p:nvPr>
        </p:nvSpPr>
        <p:spPr>
          <a:xfrm>
            <a:off x="228600" y="1738950"/>
            <a:ext cx="4402800" cy="2520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8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9" name="Google Shape;59;p13"/>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3"/>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3"/>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2" name="Google Shape;62;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 name="Google Shape;64;p13"/>
          <p:cNvSpPr txBox="1"/>
          <p:nvPr>
            <p:ph type="title"/>
          </p:nvPr>
        </p:nvSpPr>
        <p:spPr>
          <a:xfrm>
            <a:off x="228600" y="228600"/>
            <a:ext cx="6658800" cy="1419000"/>
          </a:xfrm>
          <a:prstGeom prst="rect">
            <a:avLst/>
          </a:prstGeom>
        </p:spPr>
        <p:txBody>
          <a:bodyPr anchorCtr="0" anchor="t" bIns="0" lIns="0" spcFirstLastPara="1" rIns="0" wrap="square" tIns="0">
            <a:norm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5" name="Google Shape;65;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6" name="Google Shape;66;p13"/>
          <p:cNvSpPr txBox="1"/>
          <p:nvPr>
            <p:ph idx="5" type="subTitle"/>
          </p:nvPr>
        </p:nvSpPr>
        <p:spPr>
          <a:xfrm>
            <a:off x="297075" y="4175900"/>
            <a:ext cx="1264800" cy="228600"/>
          </a:xfrm>
          <a:prstGeom prst="rect">
            <a:avLst/>
          </a:prstGeom>
        </p:spPr>
        <p:txBody>
          <a:bodyPr anchorCtr="0" anchor="t" bIns="0" lIns="0" spcFirstLastPara="1" rIns="0" wrap="square" tIns="0">
            <a:norm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3"/>
          <p:cNvSpPr txBox="1"/>
          <p:nvPr>
            <p:ph idx="6" type="subTitle"/>
          </p:nvPr>
        </p:nvSpPr>
        <p:spPr>
          <a:xfrm>
            <a:off x="1786375" y="4175900"/>
            <a:ext cx="1264800" cy="228600"/>
          </a:xfrm>
          <a:prstGeom prst="rect">
            <a:avLst/>
          </a:prstGeom>
        </p:spPr>
        <p:txBody>
          <a:bodyPr anchorCtr="0" anchor="t" bIns="0" lIns="0" spcFirstLastPara="1" rIns="0" wrap="square" tIns="0">
            <a:norm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8" name="Google Shape;68;p13"/>
          <p:cNvSpPr txBox="1"/>
          <p:nvPr>
            <p:ph idx="7" type="subTitle"/>
          </p:nvPr>
        </p:nvSpPr>
        <p:spPr>
          <a:xfrm>
            <a:off x="228591" y="3454475"/>
            <a:ext cx="4659600" cy="252000"/>
          </a:xfrm>
          <a:prstGeom prst="rect">
            <a:avLst/>
          </a:prstGeom>
        </p:spPr>
        <p:txBody>
          <a:bodyPr anchorCtr="0" anchor="t" bIns="91425" lIns="0" spcFirstLastPara="1" rIns="91425" wrap="square" tIns="0">
            <a:norm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9" name="Google Shape;69;p13"/>
          <p:cNvSpPr txBox="1"/>
          <p:nvPr>
            <p:ph idx="8" type="subTitle"/>
          </p:nvPr>
        </p:nvSpPr>
        <p:spPr>
          <a:xfrm>
            <a:off x="228591" y="3743050"/>
            <a:ext cx="4659600" cy="252000"/>
          </a:xfrm>
          <a:prstGeom prst="rect">
            <a:avLst/>
          </a:prstGeom>
        </p:spPr>
        <p:txBody>
          <a:bodyPr anchorCtr="0" anchor="t" bIns="91425" lIns="0" spcFirstLastPara="1" rIns="91425" wrap="square" tIns="0">
            <a:norm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ctrTitle"/>
          </p:nvPr>
        </p:nvSpPr>
        <p:spPr>
          <a:xfrm>
            <a:off x="530400" y="584950"/>
            <a:ext cx="6810300" cy="1659600"/>
          </a:xfrm>
          <a:prstGeom prst="rect">
            <a:avLst/>
          </a:prstGeom>
          <a:noFill/>
        </p:spPr>
        <p:txBody>
          <a:bodyPr anchorCtr="0" anchor="b" bIns="91425" lIns="91425" spcFirstLastPara="1" rIns="91425" wrap="square" tIns="91425">
            <a:normAutofit/>
          </a:bodyPr>
          <a:lstStyle/>
          <a:p>
            <a:pPr indent="0" lvl="0" marL="0" rtl="0" algn="l">
              <a:spcBef>
                <a:spcPts val="0"/>
              </a:spcBef>
              <a:spcAft>
                <a:spcPts val="0"/>
              </a:spcAft>
              <a:buNone/>
            </a:pPr>
            <a:r>
              <a:rPr b="1" lang="en">
                <a:latin typeface="Urbanist"/>
                <a:ea typeface="Urbanist"/>
                <a:cs typeface="Urbanist"/>
                <a:sym typeface="Urbanist"/>
              </a:rPr>
              <a:t>House Price Prediction using Machine Learning</a:t>
            </a:r>
            <a:endParaRPr b="1" sz="4800">
              <a:latin typeface="Urbanist"/>
              <a:ea typeface="Urbanist"/>
              <a:cs typeface="Urbanist"/>
              <a:sym typeface="Urbanist"/>
            </a:endParaRPr>
          </a:p>
        </p:txBody>
      </p:sp>
      <p:sp>
        <p:nvSpPr>
          <p:cNvPr id="75" name="Google Shape;75;p14"/>
          <p:cNvSpPr txBox="1"/>
          <p:nvPr>
            <p:ph idx="1" type="subTitle"/>
          </p:nvPr>
        </p:nvSpPr>
        <p:spPr>
          <a:xfrm>
            <a:off x="657725" y="3192050"/>
            <a:ext cx="6004200" cy="127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Advanced Apex Project</a:t>
            </a:r>
            <a:endParaRPr/>
          </a:p>
          <a:p>
            <a:pPr indent="0" lvl="0" marL="0" rtl="0" algn="l">
              <a:spcBef>
                <a:spcPts val="0"/>
              </a:spcBef>
              <a:spcAft>
                <a:spcPts val="0"/>
              </a:spcAft>
              <a:buNone/>
            </a:pPr>
            <a:r>
              <a:rPr lang="en"/>
              <a:t>Data Disruptors</a:t>
            </a:r>
            <a:endParaRPr/>
          </a:p>
          <a:p>
            <a:pPr indent="0" lvl="0" marL="0" rtl="0" algn="l">
              <a:spcBef>
                <a:spcPts val="0"/>
              </a:spcBef>
              <a:spcAft>
                <a:spcPts val="0"/>
              </a:spcAft>
              <a:buNone/>
            </a:pPr>
            <a:r>
              <a:rPr lang="en"/>
              <a:t>Dr. Naga Janapati</a:t>
            </a:r>
            <a:endParaRPr/>
          </a:p>
        </p:txBody>
      </p:sp>
      <p:pic>
        <p:nvPicPr>
          <p:cNvPr descr="A logo for a company&#10;&#10;AI-generated content may be incorrect." id="76" name="Google Shape;76;p14"/>
          <p:cNvPicPr preferRelativeResize="0"/>
          <p:nvPr/>
        </p:nvPicPr>
        <p:blipFill rotWithShape="1">
          <a:blip r:embed="rId3">
            <a:alphaModFix/>
          </a:blip>
          <a:srcRect b="0" l="0" r="0" t="0"/>
          <a:stretch/>
        </p:blipFill>
        <p:spPr>
          <a:xfrm>
            <a:off x="7521525" y="3192050"/>
            <a:ext cx="1198925" cy="1198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The Challenge</a:t>
            </a:r>
            <a:endParaRPr b="1"/>
          </a:p>
        </p:txBody>
      </p:sp>
      <p:sp>
        <p:nvSpPr>
          <p:cNvPr id="82" name="Google Shape;82;p15"/>
          <p:cNvSpPr txBox="1"/>
          <p:nvPr>
            <p:ph idx="1" type="body"/>
          </p:nvPr>
        </p:nvSpPr>
        <p:spPr>
          <a:xfrm>
            <a:off x="311700" y="923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Every house sale raises the same question: </a:t>
            </a:r>
            <a:r>
              <a:rPr b="1" lang="en"/>
              <a:t>"Is this the right price?"</a:t>
            </a:r>
            <a:endParaRPr b="1"/>
          </a:p>
          <a:p>
            <a:pPr indent="0" lvl="0" marL="0" rtl="0" algn="l">
              <a:spcBef>
                <a:spcPts val="1200"/>
              </a:spcBef>
              <a:spcAft>
                <a:spcPts val="0"/>
              </a:spcAft>
              <a:buClr>
                <a:schemeClr val="dk1"/>
              </a:buClr>
              <a:buSzPts val="1100"/>
              <a:buFont typeface="Arial"/>
              <a:buNone/>
            </a:pPr>
            <a:r>
              <a:rPr b="1" lang="en"/>
              <a:t>The Problem:</a:t>
            </a:r>
            <a:endParaRPr b="1"/>
          </a:p>
          <a:p>
            <a:pPr indent="-342900" lvl="0" marL="457200" rtl="0" algn="l">
              <a:spcBef>
                <a:spcPts val="1200"/>
              </a:spcBef>
              <a:spcAft>
                <a:spcPts val="0"/>
              </a:spcAft>
              <a:buSzPts val="1800"/>
              <a:buChar char="❖"/>
            </a:pPr>
            <a:r>
              <a:rPr lang="en"/>
              <a:t>Buyers want fair deals</a:t>
            </a:r>
            <a:endParaRPr/>
          </a:p>
          <a:p>
            <a:pPr indent="-342900" lvl="0" marL="457200" rtl="0" algn="l">
              <a:spcBef>
                <a:spcPts val="0"/>
              </a:spcBef>
              <a:spcAft>
                <a:spcPts val="0"/>
              </a:spcAft>
              <a:buSzPts val="1800"/>
              <a:buChar char="❖"/>
            </a:pPr>
            <a:r>
              <a:rPr lang="en"/>
              <a:t>Sellers want accurate valuations</a:t>
            </a:r>
            <a:endParaRPr/>
          </a:p>
          <a:p>
            <a:pPr indent="-342900" lvl="0" marL="457200" rtl="0" algn="l">
              <a:spcBef>
                <a:spcPts val="0"/>
              </a:spcBef>
              <a:spcAft>
                <a:spcPts val="0"/>
              </a:spcAft>
              <a:buSzPts val="1800"/>
              <a:buChar char="❖"/>
            </a:pPr>
            <a:r>
              <a:rPr lang="en"/>
              <a:t>Real estate agents need quick estimates</a:t>
            </a:r>
            <a:endParaRPr/>
          </a:p>
          <a:p>
            <a:pPr indent="-342900" lvl="0" marL="457200" rtl="0" algn="l">
              <a:spcBef>
                <a:spcPts val="0"/>
              </a:spcBef>
              <a:spcAft>
                <a:spcPts val="0"/>
              </a:spcAft>
              <a:buSzPts val="1800"/>
              <a:buChar char="❖"/>
            </a:pPr>
            <a:r>
              <a:rPr lang="en"/>
              <a:t>Banks need reliable appraisals</a:t>
            </a:r>
            <a:endParaRPr/>
          </a:p>
          <a:p>
            <a:pPr indent="0" lvl="0" marL="0" rtl="0" algn="l">
              <a:spcBef>
                <a:spcPts val="1200"/>
              </a:spcBef>
              <a:spcAft>
                <a:spcPts val="1200"/>
              </a:spcAft>
              <a:buClr>
                <a:schemeClr val="dk1"/>
              </a:buClr>
              <a:buSzPts val="1100"/>
              <a:buFont typeface="Arial"/>
              <a:buNone/>
            </a:pPr>
            <a:r>
              <a:rPr b="1" lang="en"/>
              <a:t>Our Mission:</a:t>
            </a:r>
            <a:r>
              <a:rPr lang="en"/>
              <a:t> Build an AI model that predicts house prices with 90%+ accuracy using property features.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we need prediction?</a:t>
            </a:r>
            <a:endParaRPr/>
          </a:p>
        </p:txBody>
      </p:sp>
      <p:pic>
        <p:nvPicPr>
          <p:cNvPr id="88" name="Google Shape;88;p16"/>
          <p:cNvPicPr preferRelativeResize="0"/>
          <p:nvPr/>
        </p:nvPicPr>
        <p:blipFill>
          <a:blip r:embed="rId3">
            <a:alphaModFix/>
          </a:blip>
          <a:stretch>
            <a:fillRect/>
          </a:stretch>
        </p:blipFill>
        <p:spPr>
          <a:xfrm>
            <a:off x="235500" y="923569"/>
            <a:ext cx="4391488" cy="2195756"/>
          </a:xfrm>
          <a:prstGeom prst="rect">
            <a:avLst/>
          </a:prstGeom>
          <a:noFill/>
          <a:ln>
            <a:noFill/>
          </a:ln>
        </p:spPr>
      </p:pic>
      <p:pic>
        <p:nvPicPr>
          <p:cNvPr id="89" name="Google Shape;89;p16"/>
          <p:cNvPicPr preferRelativeResize="0"/>
          <p:nvPr/>
        </p:nvPicPr>
        <p:blipFill>
          <a:blip r:embed="rId4">
            <a:alphaModFix/>
          </a:blip>
          <a:stretch>
            <a:fillRect/>
          </a:stretch>
        </p:blipFill>
        <p:spPr>
          <a:xfrm>
            <a:off x="4627001" y="918000"/>
            <a:ext cx="4331460" cy="2165718"/>
          </a:xfrm>
          <a:prstGeom prst="rect">
            <a:avLst/>
          </a:prstGeom>
          <a:noFill/>
          <a:ln>
            <a:noFill/>
          </a:ln>
        </p:spPr>
      </p:pic>
      <p:sp>
        <p:nvSpPr>
          <p:cNvPr id="90" name="Google Shape;90;p16"/>
          <p:cNvSpPr txBox="1"/>
          <p:nvPr/>
        </p:nvSpPr>
        <p:spPr>
          <a:xfrm>
            <a:off x="396900" y="3253775"/>
            <a:ext cx="8350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rPr>
              <a:t>The before/after comparison visually demonstrates that log transformation converts the right-skewed price distribution into a normal distribution, which is essential for accurate regression modeling.</a:t>
            </a:r>
            <a:endParaRPr>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The Data</a:t>
            </a:r>
            <a:endParaRPr b="1"/>
          </a:p>
        </p:txBody>
      </p:sp>
      <p:sp>
        <p:nvSpPr>
          <p:cNvPr id="96" name="Google Shape;96;p17"/>
          <p:cNvSpPr txBox="1"/>
          <p:nvPr>
            <p:ph idx="1" type="body"/>
          </p:nvPr>
        </p:nvSpPr>
        <p:spPr>
          <a:xfrm>
            <a:off x="311700" y="923875"/>
            <a:ext cx="4761600" cy="34164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Clr>
                <a:schemeClr val="dk1"/>
              </a:buClr>
              <a:buSzPts val="275"/>
              <a:buFont typeface="Arial"/>
              <a:buNone/>
            </a:pPr>
            <a:r>
              <a:rPr lang="en" sz="4452"/>
              <a:t>1,460 Houses, 81 Features, One Goal</a:t>
            </a:r>
            <a:br>
              <a:rPr lang="en" sz="3400"/>
            </a:br>
            <a:r>
              <a:rPr lang="en" sz="4452"/>
              <a:t>Dataset: Kaggle House Prices Competition (Ames, Iowa)</a:t>
            </a:r>
            <a:endParaRPr sz="4452"/>
          </a:p>
          <a:p>
            <a:pPr indent="0" lvl="0" marL="0" rtl="0" algn="l">
              <a:spcBef>
                <a:spcPts val="1200"/>
              </a:spcBef>
              <a:spcAft>
                <a:spcPts val="0"/>
              </a:spcAft>
              <a:buNone/>
            </a:pPr>
            <a:r>
              <a:rPr b="1" lang="en" sz="5525"/>
              <a:t>What We Have:</a:t>
            </a:r>
            <a:endParaRPr b="1" sz="5525"/>
          </a:p>
          <a:p>
            <a:pPr indent="-316323" lvl="0" marL="457200" rtl="0" algn="l">
              <a:spcBef>
                <a:spcPts val="1200"/>
              </a:spcBef>
              <a:spcAft>
                <a:spcPts val="0"/>
              </a:spcAft>
              <a:buSzPct val="100000"/>
              <a:buChar char="●"/>
            </a:pPr>
            <a:r>
              <a:rPr lang="en" sz="5525"/>
              <a:t>1,460 real property sales</a:t>
            </a:r>
            <a:endParaRPr sz="5525"/>
          </a:p>
          <a:p>
            <a:pPr indent="-316323" lvl="0" marL="457200" rtl="0" algn="l">
              <a:spcBef>
                <a:spcPts val="0"/>
              </a:spcBef>
              <a:spcAft>
                <a:spcPts val="0"/>
              </a:spcAft>
              <a:buSzPct val="100000"/>
              <a:buChar char="●"/>
            </a:pPr>
            <a:r>
              <a:rPr lang="en" sz="5525"/>
              <a:t>81 features: size, quality, location, age, amenities</a:t>
            </a:r>
            <a:endParaRPr sz="5525"/>
          </a:p>
          <a:p>
            <a:pPr indent="-316323" lvl="0" marL="457200" rtl="0" algn="l">
              <a:spcBef>
                <a:spcPts val="0"/>
              </a:spcBef>
              <a:spcAft>
                <a:spcPts val="0"/>
              </a:spcAft>
              <a:buSzPct val="100000"/>
              <a:buChar char="●"/>
            </a:pPr>
            <a:r>
              <a:rPr lang="en" sz="5525"/>
              <a:t>Target: SalePrice (ranging from $34,900 to $755,000)</a:t>
            </a:r>
            <a:endParaRPr sz="5525"/>
          </a:p>
          <a:p>
            <a:pPr indent="0" lvl="0" marL="0" rtl="0" algn="l">
              <a:spcBef>
                <a:spcPts val="1200"/>
              </a:spcBef>
              <a:spcAft>
                <a:spcPts val="0"/>
              </a:spcAft>
              <a:buNone/>
            </a:pPr>
            <a:r>
              <a:rPr b="1" lang="en" sz="5525"/>
              <a:t>The Challenge:</a:t>
            </a:r>
            <a:endParaRPr b="1" sz="5525"/>
          </a:p>
          <a:p>
            <a:pPr indent="-316323" lvl="0" marL="457200" rtl="0" algn="l">
              <a:spcBef>
                <a:spcPts val="1200"/>
              </a:spcBef>
              <a:spcAft>
                <a:spcPts val="0"/>
              </a:spcAft>
              <a:buSzPct val="100000"/>
              <a:buChar char="●"/>
            </a:pPr>
            <a:r>
              <a:rPr lang="en" sz="5525"/>
              <a:t>Missing values in 19 columns</a:t>
            </a:r>
            <a:endParaRPr sz="5525"/>
          </a:p>
          <a:p>
            <a:pPr indent="-316323" lvl="0" marL="457200" rtl="0" algn="l">
              <a:spcBef>
                <a:spcPts val="0"/>
              </a:spcBef>
              <a:spcAft>
                <a:spcPts val="0"/>
              </a:spcAft>
              <a:buSzPct val="100000"/>
              <a:buChar char="●"/>
            </a:pPr>
            <a:r>
              <a:rPr lang="en" sz="5525"/>
              <a:t>Outliers in 32 numeric features</a:t>
            </a:r>
            <a:endParaRPr sz="5525"/>
          </a:p>
          <a:p>
            <a:pPr indent="-316323" lvl="0" marL="457200" rtl="0" algn="l">
              <a:spcBef>
                <a:spcPts val="0"/>
              </a:spcBef>
              <a:spcAft>
                <a:spcPts val="0"/>
              </a:spcAft>
              <a:buSzPct val="100000"/>
              <a:buChar char="●"/>
            </a:pPr>
            <a:r>
              <a:rPr lang="en" sz="5525"/>
              <a:t>Mix of categorical and numerical data</a:t>
            </a:r>
            <a:endParaRPr sz="5525"/>
          </a:p>
          <a:p>
            <a:pPr indent="-316323" lvl="0" marL="457200" rtl="0" algn="l">
              <a:spcBef>
                <a:spcPts val="0"/>
              </a:spcBef>
              <a:spcAft>
                <a:spcPts val="0"/>
              </a:spcAft>
              <a:buSzPct val="100000"/>
              <a:buChar char="●"/>
            </a:pPr>
            <a:r>
              <a:rPr lang="en" sz="5525"/>
              <a:t>- Skewed price distribution</a:t>
            </a:r>
            <a:endParaRPr sz="5525"/>
          </a:p>
        </p:txBody>
      </p:sp>
      <p:sp>
        <p:nvSpPr>
          <p:cNvPr id="97" name="Google Shape;97;p17"/>
          <p:cNvSpPr txBox="1"/>
          <p:nvPr/>
        </p:nvSpPr>
        <p:spPr>
          <a:xfrm>
            <a:off x="5838371" y="675525"/>
            <a:ext cx="3000000" cy="3849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4343"/>
                </a:solidFill>
              </a:rPr>
              <a:t>Shape of dataset: (1460, 81)</a:t>
            </a:r>
            <a:endParaRPr b="1" sz="1300">
              <a:solidFill>
                <a:srgbClr val="434343"/>
              </a:solidFill>
            </a:endParaRPr>
          </a:p>
        </p:txBody>
      </p:sp>
      <p:sp>
        <p:nvSpPr>
          <p:cNvPr id="98" name="Google Shape;98;p17"/>
          <p:cNvSpPr txBox="1"/>
          <p:nvPr/>
        </p:nvSpPr>
        <p:spPr>
          <a:xfrm>
            <a:off x="5832300" y="1187850"/>
            <a:ext cx="3000000" cy="29862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4343"/>
                </a:solidFill>
              </a:rPr>
              <a:t>Data types of each column:</a:t>
            </a:r>
            <a:endParaRPr b="1" sz="1300">
              <a:solidFill>
                <a:srgbClr val="434343"/>
              </a:solidFill>
            </a:endParaRPr>
          </a:p>
          <a:p>
            <a:pPr indent="0" lvl="0" marL="0" rtl="0" algn="l">
              <a:spcBef>
                <a:spcPts val="0"/>
              </a:spcBef>
              <a:spcAft>
                <a:spcPts val="0"/>
              </a:spcAft>
              <a:buNone/>
            </a:pPr>
            <a:r>
              <a:rPr lang="en" sz="1300">
                <a:solidFill>
                  <a:srgbClr val="434343"/>
                </a:solidFill>
              </a:rPr>
              <a:t>Id                 	int64</a:t>
            </a:r>
            <a:endParaRPr sz="1300">
              <a:solidFill>
                <a:srgbClr val="434343"/>
              </a:solidFill>
            </a:endParaRPr>
          </a:p>
          <a:p>
            <a:pPr indent="0" lvl="0" marL="0" rtl="0" algn="l">
              <a:spcBef>
                <a:spcPts val="0"/>
              </a:spcBef>
              <a:spcAft>
                <a:spcPts val="0"/>
              </a:spcAft>
              <a:buNone/>
            </a:pPr>
            <a:r>
              <a:rPr lang="en" sz="1300">
                <a:solidFill>
                  <a:srgbClr val="434343"/>
                </a:solidFill>
              </a:rPr>
              <a:t>MSSubClass         int64</a:t>
            </a:r>
            <a:endParaRPr sz="1300">
              <a:solidFill>
                <a:srgbClr val="434343"/>
              </a:solidFill>
            </a:endParaRPr>
          </a:p>
          <a:p>
            <a:pPr indent="0" lvl="0" marL="0" rtl="0" algn="l">
              <a:spcBef>
                <a:spcPts val="0"/>
              </a:spcBef>
              <a:spcAft>
                <a:spcPts val="0"/>
              </a:spcAft>
              <a:buNone/>
            </a:pPr>
            <a:r>
              <a:rPr lang="en" sz="1300">
                <a:solidFill>
                  <a:srgbClr val="434343"/>
                </a:solidFill>
              </a:rPr>
              <a:t>MSZoning          	object</a:t>
            </a:r>
            <a:endParaRPr sz="1300">
              <a:solidFill>
                <a:srgbClr val="434343"/>
              </a:solidFill>
            </a:endParaRPr>
          </a:p>
          <a:p>
            <a:pPr indent="0" lvl="0" marL="0" rtl="0" algn="l">
              <a:spcBef>
                <a:spcPts val="0"/>
              </a:spcBef>
              <a:spcAft>
                <a:spcPts val="0"/>
              </a:spcAft>
              <a:buNone/>
            </a:pPr>
            <a:r>
              <a:rPr lang="en" sz="1300">
                <a:solidFill>
                  <a:srgbClr val="434343"/>
                </a:solidFill>
              </a:rPr>
              <a:t>LotFrontage      	float64</a:t>
            </a:r>
            <a:endParaRPr sz="1300">
              <a:solidFill>
                <a:srgbClr val="434343"/>
              </a:solidFill>
            </a:endParaRPr>
          </a:p>
          <a:p>
            <a:pPr indent="0" lvl="0" marL="0" rtl="0" algn="l">
              <a:spcBef>
                <a:spcPts val="0"/>
              </a:spcBef>
              <a:spcAft>
                <a:spcPts val="0"/>
              </a:spcAft>
              <a:buNone/>
            </a:pPr>
            <a:r>
              <a:rPr lang="en" sz="1300">
                <a:solidFill>
                  <a:srgbClr val="434343"/>
                </a:solidFill>
              </a:rPr>
              <a:t>LotArea            	int64</a:t>
            </a:r>
            <a:endParaRPr sz="1300">
              <a:solidFill>
                <a:srgbClr val="434343"/>
              </a:solidFill>
            </a:endParaRPr>
          </a:p>
          <a:p>
            <a:pPr indent="0" lvl="0" marL="0" rtl="0" algn="l">
              <a:spcBef>
                <a:spcPts val="0"/>
              </a:spcBef>
              <a:spcAft>
                <a:spcPts val="0"/>
              </a:spcAft>
              <a:buNone/>
            </a:pPr>
            <a:r>
              <a:rPr lang="en" sz="1300">
                <a:solidFill>
                  <a:srgbClr val="434343"/>
                </a:solidFill>
              </a:rPr>
              <a:t>                  ...   </a:t>
            </a:r>
            <a:endParaRPr sz="1300">
              <a:solidFill>
                <a:srgbClr val="434343"/>
              </a:solidFill>
            </a:endParaRPr>
          </a:p>
          <a:p>
            <a:pPr indent="0" lvl="0" marL="0" rtl="0" algn="l">
              <a:spcBef>
                <a:spcPts val="0"/>
              </a:spcBef>
              <a:spcAft>
                <a:spcPts val="0"/>
              </a:spcAft>
              <a:buNone/>
            </a:pPr>
            <a:r>
              <a:rPr lang="en" sz="1300">
                <a:solidFill>
                  <a:srgbClr val="434343"/>
                </a:solidFill>
              </a:rPr>
              <a:t>MoSold             	int64</a:t>
            </a:r>
            <a:endParaRPr sz="1300">
              <a:solidFill>
                <a:srgbClr val="434343"/>
              </a:solidFill>
            </a:endParaRPr>
          </a:p>
          <a:p>
            <a:pPr indent="0" lvl="0" marL="0" rtl="0" algn="l">
              <a:spcBef>
                <a:spcPts val="0"/>
              </a:spcBef>
              <a:spcAft>
                <a:spcPts val="0"/>
              </a:spcAft>
              <a:buNone/>
            </a:pPr>
            <a:r>
              <a:rPr lang="en" sz="1300">
                <a:solidFill>
                  <a:srgbClr val="434343"/>
                </a:solidFill>
              </a:rPr>
              <a:t>YrSold             	int64</a:t>
            </a:r>
            <a:endParaRPr sz="1300">
              <a:solidFill>
                <a:srgbClr val="434343"/>
              </a:solidFill>
            </a:endParaRPr>
          </a:p>
          <a:p>
            <a:pPr indent="0" lvl="0" marL="0" rtl="0" algn="l">
              <a:spcBef>
                <a:spcPts val="0"/>
              </a:spcBef>
              <a:spcAft>
                <a:spcPts val="0"/>
              </a:spcAft>
              <a:buNone/>
            </a:pPr>
            <a:r>
              <a:rPr lang="en" sz="1300">
                <a:solidFill>
                  <a:srgbClr val="434343"/>
                </a:solidFill>
              </a:rPr>
              <a:t>SaleType          	object</a:t>
            </a:r>
            <a:endParaRPr sz="1300">
              <a:solidFill>
                <a:srgbClr val="434343"/>
              </a:solidFill>
            </a:endParaRPr>
          </a:p>
          <a:p>
            <a:pPr indent="0" lvl="0" marL="0" rtl="0" algn="l">
              <a:spcBef>
                <a:spcPts val="0"/>
              </a:spcBef>
              <a:spcAft>
                <a:spcPts val="0"/>
              </a:spcAft>
              <a:buNone/>
            </a:pPr>
            <a:r>
              <a:rPr lang="en" sz="1300">
                <a:solidFill>
                  <a:srgbClr val="434343"/>
                </a:solidFill>
              </a:rPr>
              <a:t>SaleCondition     	object</a:t>
            </a:r>
            <a:endParaRPr sz="1300">
              <a:solidFill>
                <a:srgbClr val="434343"/>
              </a:solidFill>
            </a:endParaRPr>
          </a:p>
          <a:p>
            <a:pPr indent="0" lvl="0" marL="0" rtl="0" algn="l">
              <a:spcBef>
                <a:spcPts val="0"/>
              </a:spcBef>
              <a:spcAft>
                <a:spcPts val="0"/>
              </a:spcAft>
              <a:buNone/>
            </a:pPr>
            <a:r>
              <a:rPr lang="en" sz="1300">
                <a:solidFill>
                  <a:srgbClr val="434343"/>
                </a:solidFill>
              </a:rPr>
              <a:t>SalePrice          	int64</a:t>
            </a:r>
            <a:endParaRPr sz="1300">
              <a:solidFill>
                <a:srgbClr val="434343"/>
              </a:solidFill>
            </a:endParaRPr>
          </a:p>
          <a:p>
            <a:pPr indent="0" lvl="0" marL="0" rtl="0" algn="l">
              <a:spcBef>
                <a:spcPts val="0"/>
              </a:spcBef>
              <a:spcAft>
                <a:spcPts val="0"/>
              </a:spcAft>
              <a:buNone/>
            </a:pPr>
            <a:r>
              <a:t/>
            </a:r>
            <a:endParaRPr sz="1300">
              <a:solidFill>
                <a:srgbClr val="434343"/>
              </a:solidFill>
            </a:endParaRPr>
          </a:p>
          <a:p>
            <a:pPr indent="0" lvl="0" marL="0" rtl="0" algn="l">
              <a:spcBef>
                <a:spcPts val="0"/>
              </a:spcBef>
              <a:spcAft>
                <a:spcPts val="0"/>
              </a:spcAft>
              <a:buNone/>
            </a:pPr>
            <a:r>
              <a:rPr lang="en" sz="1300">
                <a:solidFill>
                  <a:srgbClr val="434343"/>
                </a:solidFill>
              </a:rPr>
              <a:t>Length: 81, dtype: object</a:t>
            </a:r>
            <a:endParaRPr sz="1300">
              <a:solidFill>
                <a:srgbClr val="43434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The Discovery Journey</a:t>
            </a:r>
            <a:endParaRPr b="1"/>
          </a:p>
          <a:p>
            <a:pPr indent="0" lvl="0" marL="0" rtl="0" algn="l">
              <a:spcBef>
                <a:spcPts val="0"/>
              </a:spcBef>
              <a:spcAft>
                <a:spcPts val="0"/>
              </a:spcAft>
              <a:buNone/>
            </a:pPr>
            <a:r>
              <a:t/>
            </a:r>
            <a:endParaRPr b="1"/>
          </a:p>
        </p:txBody>
      </p:sp>
      <p:sp>
        <p:nvSpPr>
          <p:cNvPr id="104" name="Google Shape;104;p18"/>
          <p:cNvSpPr txBox="1"/>
          <p:nvPr>
            <p:ph idx="1" type="body"/>
          </p:nvPr>
        </p:nvSpPr>
        <p:spPr>
          <a:xfrm>
            <a:off x="311700" y="771475"/>
            <a:ext cx="8520600" cy="3709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275"/>
              <a:buFont typeface="Arial"/>
              <a:buNone/>
            </a:pPr>
            <a:r>
              <a:rPr lang="en" sz="1350"/>
              <a:t>What Drives House Prices?</a:t>
            </a:r>
            <a:endParaRPr sz="1350"/>
          </a:p>
          <a:p>
            <a:pPr indent="0" lvl="0" marL="0" rtl="0" algn="l">
              <a:lnSpc>
                <a:spcPct val="105000"/>
              </a:lnSpc>
              <a:spcBef>
                <a:spcPts val="1200"/>
              </a:spcBef>
              <a:spcAft>
                <a:spcPts val="0"/>
              </a:spcAft>
              <a:buSzPts val="275"/>
              <a:buNone/>
            </a:pPr>
            <a:r>
              <a:rPr b="1" lang="en" sz="1350"/>
              <a:t>Key Insights from EDA:</a:t>
            </a:r>
            <a:endParaRPr sz="1350"/>
          </a:p>
          <a:p>
            <a:pPr indent="-314325" lvl="0" marL="457200" rtl="0" algn="l">
              <a:lnSpc>
                <a:spcPct val="105000"/>
              </a:lnSpc>
              <a:spcBef>
                <a:spcPts val="1200"/>
              </a:spcBef>
              <a:spcAft>
                <a:spcPts val="0"/>
              </a:spcAft>
              <a:buSzPts val="1350"/>
              <a:buChar char="●"/>
            </a:pPr>
            <a:r>
              <a:rPr lang="en" sz="1350"/>
              <a:t>Size Matters Most</a:t>
            </a:r>
            <a:endParaRPr sz="1350"/>
          </a:p>
          <a:p>
            <a:pPr indent="-314325" lvl="0" marL="457200" rtl="0" algn="l">
              <a:lnSpc>
                <a:spcPct val="105000"/>
              </a:lnSpc>
              <a:spcBef>
                <a:spcPts val="0"/>
              </a:spcBef>
              <a:spcAft>
                <a:spcPts val="0"/>
              </a:spcAft>
              <a:buSzPts val="1350"/>
              <a:buChar char="●"/>
            </a:pPr>
            <a:r>
              <a:rPr lang="en" sz="1350"/>
              <a:t>Total Square Footage is the #1 predictor (68% mutual information score)</a:t>
            </a:r>
            <a:endParaRPr sz="1350"/>
          </a:p>
          <a:p>
            <a:pPr indent="-314325" lvl="0" marL="457200" rtl="0" algn="l">
              <a:lnSpc>
                <a:spcPct val="105000"/>
              </a:lnSpc>
              <a:spcBef>
                <a:spcPts val="0"/>
              </a:spcBef>
              <a:spcAft>
                <a:spcPts val="0"/>
              </a:spcAft>
              <a:buSzPts val="1350"/>
              <a:buChar char="●"/>
            </a:pPr>
            <a:r>
              <a:rPr lang="en" sz="1350"/>
              <a:t>Living area, basement, and floors all correlate strongly</a:t>
            </a:r>
            <a:endParaRPr sz="1350"/>
          </a:p>
          <a:p>
            <a:pPr indent="0" lvl="0" marL="0" rtl="0" algn="l">
              <a:lnSpc>
                <a:spcPct val="105000"/>
              </a:lnSpc>
              <a:spcBef>
                <a:spcPts val="1200"/>
              </a:spcBef>
              <a:spcAft>
                <a:spcPts val="0"/>
              </a:spcAft>
              <a:buSzPts val="275"/>
              <a:buNone/>
            </a:pPr>
            <a:r>
              <a:rPr b="1" lang="en" sz="1350"/>
              <a:t>2. Quality Over Location</a:t>
            </a:r>
            <a:endParaRPr b="1" sz="1350"/>
          </a:p>
          <a:p>
            <a:pPr indent="-314325" lvl="0" marL="457200" rtl="0" algn="l">
              <a:lnSpc>
                <a:spcPct val="105000"/>
              </a:lnSpc>
              <a:spcBef>
                <a:spcPts val="1200"/>
              </a:spcBef>
              <a:spcAft>
                <a:spcPts val="0"/>
              </a:spcAft>
              <a:buSzPts val="1350"/>
              <a:buChar char="●"/>
            </a:pPr>
            <a:r>
              <a:rPr lang="en" sz="1350"/>
              <a:t>Overall Quality (58% MI score) beats neighborhood</a:t>
            </a:r>
            <a:endParaRPr sz="1350"/>
          </a:p>
          <a:p>
            <a:pPr indent="-314325" lvl="0" marL="457200" rtl="0" algn="l">
              <a:lnSpc>
                <a:spcPct val="105000"/>
              </a:lnSpc>
              <a:spcBef>
                <a:spcPts val="0"/>
              </a:spcBef>
              <a:spcAft>
                <a:spcPts val="0"/>
              </a:spcAft>
              <a:buSzPts val="1350"/>
              <a:buChar char="●"/>
            </a:pPr>
            <a:r>
              <a:rPr lang="en" sz="1350"/>
              <a:t>Quality Score (quality × condition) is a powerful predictor</a:t>
            </a:r>
            <a:endParaRPr sz="1350"/>
          </a:p>
          <a:p>
            <a:pPr indent="0" lvl="0" marL="0" rtl="0" algn="l">
              <a:lnSpc>
                <a:spcPct val="105000"/>
              </a:lnSpc>
              <a:spcBef>
                <a:spcPts val="1200"/>
              </a:spcBef>
              <a:spcAft>
                <a:spcPts val="0"/>
              </a:spcAft>
              <a:buSzPts val="275"/>
              <a:buNone/>
            </a:pPr>
            <a:r>
              <a:rPr b="1" lang="en" sz="1350"/>
              <a:t>3. Price Patterns</a:t>
            </a:r>
            <a:endParaRPr b="1" sz="1350"/>
          </a:p>
          <a:p>
            <a:pPr indent="-314325" lvl="0" marL="457200" rtl="0" algn="l">
              <a:lnSpc>
                <a:spcPct val="105000"/>
              </a:lnSpc>
              <a:spcBef>
                <a:spcPts val="1200"/>
              </a:spcBef>
              <a:spcAft>
                <a:spcPts val="0"/>
              </a:spcAft>
              <a:buSzPts val="1350"/>
              <a:buChar char="●"/>
            </a:pPr>
            <a:r>
              <a:rPr lang="en" sz="1350"/>
              <a:t>   Average price varies 3.4x across neighborhoods ($98K to $335K)</a:t>
            </a:r>
            <a:endParaRPr sz="1350"/>
          </a:p>
          <a:p>
            <a:pPr indent="-314325" lvl="0" marL="457200" rtl="0" algn="l">
              <a:lnSpc>
                <a:spcPct val="105000"/>
              </a:lnSpc>
              <a:spcBef>
                <a:spcPts val="0"/>
              </a:spcBef>
              <a:spcAft>
                <a:spcPts val="0"/>
              </a:spcAft>
              <a:buSzPts val="1350"/>
              <a:buChar char="●"/>
            </a:pPr>
            <a:r>
              <a:rPr lang="en" sz="1350"/>
              <a:t>   Quality rating (1-10) shows clear price progression</a:t>
            </a:r>
            <a:endParaRPr sz="1350"/>
          </a:p>
          <a:p>
            <a:pPr indent="-314325" lvl="0" marL="457200" rtl="0" algn="l">
              <a:lnSpc>
                <a:spcPct val="105000"/>
              </a:lnSpc>
              <a:spcBef>
                <a:spcPts val="0"/>
              </a:spcBef>
              <a:spcAft>
                <a:spcPts val="0"/>
              </a:spcAft>
              <a:buSzPts val="1350"/>
              <a:buChar char="●"/>
            </a:pPr>
            <a:r>
              <a:rPr lang="en" sz="1350"/>
              <a:t>   Log transformation needed (skewness: 1.88)</a:t>
            </a:r>
            <a:endParaRPr sz="135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9"/>
          <p:cNvPicPr preferRelativeResize="0"/>
          <p:nvPr/>
        </p:nvPicPr>
        <p:blipFill>
          <a:blip r:embed="rId3">
            <a:alphaModFix/>
          </a:blip>
          <a:stretch>
            <a:fillRect/>
          </a:stretch>
        </p:blipFill>
        <p:spPr>
          <a:xfrm>
            <a:off x="2146775" y="219275"/>
            <a:ext cx="4850448" cy="3637824"/>
          </a:xfrm>
          <a:prstGeom prst="rect">
            <a:avLst/>
          </a:prstGeom>
          <a:noFill/>
          <a:ln>
            <a:noFill/>
          </a:ln>
        </p:spPr>
      </p:pic>
      <p:sp>
        <p:nvSpPr>
          <p:cNvPr id="110" name="Google Shape;110;p19"/>
          <p:cNvSpPr txBox="1"/>
          <p:nvPr/>
        </p:nvSpPr>
        <p:spPr>
          <a:xfrm>
            <a:off x="663025" y="3939700"/>
            <a:ext cx="7866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434343"/>
                </a:solidFill>
              </a:rPr>
              <a:t>The correlation heatmap reveals feature relationships and identifies the strongest price predictors (like OverallQual and GrLivArea) while detecting redundant features.</a:t>
            </a:r>
            <a:endParaRPr sz="1300">
              <a:solidFill>
                <a:srgbClr val="43434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0"/>
          <p:cNvPicPr preferRelativeResize="0"/>
          <p:nvPr/>
        </p:nvPicPr>
        <p:blipFill>
          <a:blip r:embed="rId3">
            <a:alphaModFix/>
          </a:blip>
          <a:stretch>
            <a:fillRect/>
          </a:stretch>
        </p:blipFill>
        <p:spPr>
          <a:xfrm>
            <a:off x="233525" y="303825"/>
            <a:ext cx="4498025" cy="1999126"/>
          </a:xfrm>
          <a:prstGeom prst="rect">
            <a:avLst/>
          </a:prstGeom>
          <a:noFill/>
          <a:ln>
            <a:noFill/>
          </a:ln>
        </p:spPr>
      </p:pic>
      <p:pic>
        <p:nvPicPr>
          <p:cNvPr id="116" name="Google Shape;116;p20"/>
          <p:cNvPicPr preferRelativeResize="0"/>
          <p:nvPr/>
        </p:nvPicPr>
        <p:blipFill>
          <a:blip r:embed="rId4">
            <a:alphaModFix/>
          </a:blip>
          <a:stretch>
            <a:fillRect/>
          </a:stretch>
        </p:blipFill>
        <p:spPr>
          <a:xfrm>
            <a:off x="152400" y="2435274"/>
            <a:ext cx="4072646" cy="2327226"/>
          </a:xfrm>
          <a:prstGeom prst="rect">
            <a:avLst/>
          </a:prstGeom>
          <a:noFill/>
          <a:ln>
            <a:noFill/>
          </a:ln>
        </p:spPr>
      </p:pic>
      <p:pic>
        <p:nvPicPr>
          <p:cNvPr id="117" name="Google Shape;117;p20"/>
          <p:cNvPicPr preferRelativeResize="0"/>
          <p:nvPr/>
        </p:nvPicPr>
        <p:blipFill>
          <a:blip r:embed="rId5">
            <a:alphaModFix/>
          </a:blip>
          <a:stretch>
            <a:fillRect/>
          </a:stretch>
        </p:blipFill>
        <p:spPr>
          <a:xfrm>
            <a:off x="4529845" y="2435274"/>
            <a:ext cx="4072646" cy="2327226"/>
          </a:xfrm>
          <a:prstGeom prst="rect">
            <a:avLst/>
          </a:prstGeom>
          <a:noFill/>
          <a:ln>
            <a:noFill/>
          </a:ln>
        </p:spPr>
      </p:pic>
      <p:sp>
        <p:nvSpPr>
          <p:cNvPr id="118" name="Google Shape;118;p20"/>
          <p:cNvSpPr txBox="1"/>
          <p:nvPr/>
        </p:nvSpPr>
        <p:spPr>
          <a:xfrm>
            <a:off x="4991100" y="255325"/>
            <a:ext cx="36567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434343"/>
                </a:solidFill>
              </a:rPr>
              <a:t>The three average sales graphs reveal how location (neighborhood), quality rating, and building type each impact house prices, showing that quality has the strongest linear relationship while neighborhoods show the widest price variation.</a:t>
            </a:r>
            <a:endParaRPr sz="1300">
              <a:solidFill>
                <a:srgbClr val="4343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Transformation</a:t>
            </a:r>
            <a:endParaRPr b="1"/>
          </a:p>
        </p:txBody>
      </p:sp>
      <p:sp>
        <p:nvSpPr>
          <p:cNvPr id="124" name="Google Shape;124;p21"/>
          <p:cNvSpPr txBox="1"/>
          <p:nvPr>
            <p:ph idx="1" type="body"/>
          </p:nvPr>
        </p:nvSpPr>
        <p:spPr>
          <a:xfrm>
            <a:off x="311700" y="558800"/>
            <a:ext cx="5434500" cy="420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350"/>
              <a:t>From Raw Data to Predictions</a:t>
            </a:r>
            <a:endParaRPr sz="1350"/>
          </a:p>
          <a:p>
            <a:pPr indent="0" lvl="0" marL="0" rtl="0" algn="l">
              <a:lnSpc>
                <a:spcPct val="95000"/>
              </a:lnSpc>
              <a:spcBef>
                <a:spcPts val="1200"/>
              </a:spcBef>
              <a:spcAft>
                <a:spcPts val="0"/>
              </a:spcAft>
              <a:buSzPts val="275"/>
              <a:buNone/>
            </a:pPr>
            <a:r>
              <a:rPr b="1" lang="en" sz="1350"/>
              <a:t>Our Data Pipeline:</a:t>
            </a:r>
            <a:endParaRPr b="1" sz="1350"/>
          </a:p>
          <a:p>
            <a:pPr indent="0" lvl="0" marL="0" rtl="0" algn="l">
              <a:lnSpc>
                <a:spcPct val="95000"/>
              </a:lnSpc>
              <a:spcBef>
                <a:spcPts val="1200"/>
              </a:spcBef>
              <a:spcAft>
                <a:spcPts val="0"/>
              </a:spcAft>
              <a:buSzPts val="275"/>
              <a:buNone/>
            </a:pPr>
            <a:r>
              <a:rPr lang="en" sz="1350"/>
              <a:t>1. Cleaning → Removed 5 columns with &gt;50% missing data,</a:t>
            </a:r>
            <a:r>
              <a:rPr lang="en" sz="1350"/>
              <a:t> </a:t>
            </a:r>
            <a:r>
              <a:rPr lang="en" sz="1350"/>
              <a:t>imputed strategically, capped outliers (1st-99th percentile)</a:t>
            </a:r>
            <a:endParaRPr sz="1350"/>
          </a:p>
          <a:p>
            <a:pPr indent="0" lvl="0" marL="0" rtl="0" algn="l">
              <a:lnSpc>
                <a:spcPct val="95000"/>
              </a:lnSpc>
              <a:spcBef>
                <a:spcPts val="1200"/>
              </a:spcBef>
              <a:spcAft>
                <a:spcPts val="0"/>
              </a:spcAft>
              <a:buSzPts val="275"/>
              <a:buNone/>
            </a:pPr>
            <a:r>
              <a:rPr lang="en" sz="1350"/>
              <a:t>2. Feature Engineering → Created 10 powerful new features:</a:t>
            </a:r>
            <a:endParaRPr sz="1350"/>
          </a:p>
          <a:p>
            <a:pPr indent="-314325" lvl="0" marL="457200" rtl="0" algn="l">
              <a:lnSpc>
                <a:spcPct val="95000"/>
              </a:lnSpc>
              <a:spcBef>
                <a:spcPts val="1200"/>
              </a:spcBef>
              <a:spcAft>
                <a:spcPts val="0"/>
              </a:spcAft>
              <a:buSzPts val="1350"/>
              <a:buChar char="●"/>
            </a:pPr>
            <a:r>
              <a:rPr lang="en" sz="1350"/>
              <a:t>   TotalSF (total square footage)</a:t>
            </a:r>
            <a:endParaRPr sz="1350"/>
          </a:p>
          <a:p>
            <a:pPr indent="-314325" lvl="0" marL="457200" rtl="0" algn="l">
              <a:lnSpc>
                <a:spcPct val="95000"/>
              </a:lnSpc>
              <a:spcBef>
                <a:spcPts val="0"/>
              </a:spcBef>
              <a:spcAft>
                <a:spcPts val="0"/>
              </a:spcAft>
              <a:buSzPts val="1350"/>
              <a:buChar char="●"/>
            </a:pPr>
            <a:r>
              <a:rPr lang="en" sz="1350"/>
              <a:t>   PropertyAge, RemodAge</a:t>
            </a:r>
            <a:endParaRPr sz="1350"/>
          </a:p>
          <a:p>
            <a:pPr indent="-314325" lvl="0" marL="457200" rtl="0" algn="l">
              <a:lnSpc>
                <a:spcPct val="95000"/>
              </a:lnSpc>
              <a:spcBef>
                <a:spcPts val="0"/>
              </a:spcBef>
              <a:spcAft>
                <a:spcPts val="0"/>
              </a:spcAft>
              <a:buSzPts val="1350"/>
              <a:buChar char="●"/>
            </a:pPr>
            <a:r>
              <a:rPr lang="en" sz="1350"/>
              <a:t>   QualityScore (quality × condition)</a:t>
            </a:r>
            <a:endParaRPr sz="1350"/>
          </a:p>
          <a:p>
            <a:pPr indent="-314325" lvl="0" marL="457200" rtl="0" algn="l">
              <a:lnSpc>
                <a:spcPct val="95000"/>
              </a:lnSpc>
              <a:spcBef>
                <a:spcPts val="0"/>
              </a:spcBef>
              <a:spcAft>
                <a:spcPts val="0"/>
              </a:spcAft>
              <a:buSzPts val="1350"/>
              <a:buChar char="●"/>
            </a:pPr>
            <a:r>
              <a:rPr lang="en" sz="1350"/>
              <a:t>   TotalBath, TotalPorchSF</a:t>
            </a:r>
            <a:endParaRPr sz="1350"/>
          </a:p>
          <a:p>
            <a:pPr indent="-314325" lvl="0" marL="457200" rtl="0" algn="l">
              <a:lnSpc>
                <a:spcPct val="95000"/>
              </a:lnSpc>
              <a:spcBef>
                <a:spcPts val="0"/>
              </a:spcBef>
              <a:spcAft>
                <a:spcPts val="0"/>
              </a:spcAft>
              <a:buSzPts val="1350"/>
              <a:buChar char="●"/>
            </a:pPr>
            <a:r>
              <a:rPr lang="en" sz="1350"/>
              <a:t>   Binary flags (HasGarage, HasBasement, etc.)</a:t>
            </a:r>
            <a:endParaRPr sz="1350"/>
          </a:p>
          <a:p>
            <a:pPr indent="0" lvl="0" marL="0" rtl="0" algn="l">
              <a:lnSpc>
                <a:spcPct val="95000"/>
              </a:lnSpc>
              <a:spcBef>
                <a:spcPts val="1200"/>
              </a:spcBef>
              <a:spcAft>
                <a:spcPts val="0"/>
              </a:spcAft>
              <a:buSzPts val="275"/>
              <a:buNone/>
            </a:pPr>
            <a:r>
              <a:rPr lang="en" sz="1350"/>
              <a:t>3. Feature Selection → Multi-method approach:</a:t>
            </a:r>
            <a:endParaRPr sz="1350"/>
          </a:p>
          <a:p>
            <a:pPr indent="-314325" lvl="0" marL="457200" rtl="0" algn="l">
              <a:lnSpc>
                <a:spcPct val="95000"/>
              </a:lnSpc>
              <a:spcBef>
                <a:spcPts val="1200"/>
              </a:spcBef>
              <a:spcAft>
                <a:spcPts val="0"/>
              </a:spcAft>
              <a:buSzPts val="1350"/>
              <a:buChar char="●"/>
            </a:pPr>
            <a:r>
              <a:rPr lang="en" sz="1350"/>
              <a:t>   Started with 81 features</a:t>
            </a:r>
            <a:endParaRPr sz="1350"/>
          </a:p>
          <a:p>
            <a:pPr indent="-314325" lvl="0" marL="457200" rtl="0" algn="l">
              <a:lnSpc>
                <a:spcPct val="95000"/>
              </a:lnSpc>
              <a:spcBef>
                <a:spcPts val="0"/>
              </a:spcBef>
              <a:spcAft>
                <a:spcPts val="0"/>
              </a:spcAft>
              <a:buSzPts val="1350"/>
              <a:buChar char="●"/>
            </a:pPr>
            <a:r>
              <a:rPr lang="en" sz="1350"/>
              <a:t>   </a:t>
            </a:r>
            <a:r>
              <a:rPr lang="en" sz="1350"/>
              <a:t>Filtered to 35 using Mutual Information, F-test, Random Forest</a:t>
            </a:r>
            <a:endParaRPr sz="1350"/>
          </a:p>
          <a:p>
            <a:pPr indent="-314325" lvl="0" marL="457200" rtl="0" algn="l">
              <a:lnSpc>
                <a:spcPct val="95000"/>
              </a:lnSpc>
              <a:spcBef>
                <a:spcPts val="0"/>
              </a:spcBef>
              <a:spcAft>
                <a:spcPts val="0"/>
              </a:spcAft>
              <a:buSzPts val="1350"/>
              <a:buChar char="●"/>
            </a:pPr>
            <a:r>
              <a:rPr lang="en" sz="1350"/>
              <a:t>   Refined with RFECV (24 features) and Lasso (23 features)</a:t>
            </a:r>
            <a:endParaRPr sz="1350"/>
          </a:p>
          <a:p>
            <a:pPr indent="-314325" lvl="0" marL="457200" rtl="0" algn="l">
              <a:lnSpc>
                <a:spcPct val="95000"/>
              </a:lnSpc>
              <a:spcBef>
                <a:spcPts val="0"/>
              </a:spcBef>
              <a:spcAft>
                <a:spcPts val="0"/>
              </a:spcAft>
              <a:buSzPts val="1350"/>
              <a:buChar char="●"/>
            </a:pPr>
            <a:r>
              <a:rPr lang="en" sz="1350"/>
              <a:t>   Final: 35 best features selected</a:t>
            </a:r>
            <a:endParaRPr sz="1350"/>
          </a:p>
        </p:txBody>
      </p:sp>
      <p:sp>
        <p:nvSpPr>
          <p:cNvPr id="125" name="Google Shape;125;p21"/>
          <p:cNvSpPr txBox="1"/>
          <p:nvPr/>
        </p:nvSpPr>
        <p:spPr>
          <a:xfrm>
            <a:off x="5573025" y="1238100"/>
            <a:ext cx="3411600" cy="7770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350">
                <a:solidFill>
                  <a:schemeClr val="accent3"/>
                </a:solidFill>
                <a:latin typeface="Proxima Nova"/>
                <a:ea typeface="Proxima Nova"/>
                <a:cs typeface="Proxima Nova"/>
                <a:sym typeface="Proxima Nova"/>
              </a:rPr>
              <a:t>4. Dimensionality Reduction → PCA reduced to 20 components (95% variance retained)</a:t>
            </a:r>
            <a:endParaRPr sz="1350">
              <a:solidFill>
                <a:schemeClr val="accent3"/>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2"/>
          <p:cNvPicPr preferRelativeResize="0"/>
          <p:nvPr/>
        </p:nvPicPr>
        <p:blipFill>
          <a:blip r:embed="rId3">
            <a:alphaModFix/>
          </a:blip>
          <a:stretch>
            <a:fillRect/>
          </a:stretch>
        </p:blipFill>
        <p:spPr>
          <a:xfrm>
            <a:off x="76200" y="304800"/>
            <a:ext cx="4955626" cy="4247700"/>
          </a:xfrm>
          <a:prstGeom prst="rect">
            <a:avLst/>
          </a:prstGeom>
          <a:noFill/>
          <a:ln>
            <a:noFill/>
          </a:ln>
        </p:spPr>
      </p:pic>
      <p:pic>
        <p:nvPicPr>
          <p:cNvPr id="131" name="Google Shape;131;p22"/>
          <p:cNvPicPr preferRelativeResize="0"/>
          <p:nvPr/>
        </p:nvPicPr>
        <p:blipFill>
          <a:blip r:embed="rId4">
            <a:alphaModFix/>
          </a:blip>
          <a:stretch>
            <a:fillRect/>
          </a:stretch>
        </p:blipFill>
        <p:spPr>
          <a:xfrm>
            <a:off x="5114370" y="485625"/>
            <a:ext cx="3917407" cy="2238526"/>
          </a:xfrm>
          <a:prstGeom prst="rect">
            <a:avLst/>
          </a:prstGeom>
          <a:noFill/>
          <a:ln>
            <a:noFill/>
          </a:ln>
        </p:spPr>
      </p:pic>
      <p:sp>
        <p:nvSpPr>
          <p:cNvPr id="132" name="Google Shape;132;p22"/>
          <p:cNvSpPr txBox="1"/>
          <p:nvPr/>
        </p:nvSpPr>
        <p:spPr>
          <a:xfrm>
            <a:off x="5284242" y="2817025"/>
            <a:ext cx="3249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434343"/>
                </a:solidFill>
              </a:rPr>
              <a:t>PCA</a:t>
            </a:r>
            <a:endParaRPr b="1" sz="2000">
              <a:solidFill>
                <a:srgbClr val="434343"/>
              </a:solidFill>
            </a:endParaRPr>
          </a:p>
          <a:p>
            <a:pPr indent="0" lvl="0" marL="0" rtl="0" algn="l">
              <a:spcBef>
                <a:spcPts val="0"/>
              </a:spcBef>
              <a:spcAft>
                <a:spcPts val="0"/>
              </a:spcAft>
              <a:buNone/>
            </a:pPr>
            <a:r>
              <a:rPr lang="en" sz="1600">
                <a:solidFill>
                  <a:srgbClr val="434343"/>
                </a:solidFill>
              </a:rPr>
              <a:t>Number of components to retain </a:t>
            </a:r>
            <a:r>
              <a:rPr b="1" lang="en" sz="1600">
                <a:solidFill>
                  <a:srgbClr val="434343"/>
                </a:solidFill>
              </a:rPr>
              <a:t>95%</a:t>
            </a:r>
            <a:endParaRPr b="1" sz="1600">
              <a:solidFill>
                <a:srgbClr val="434343"/>
              </a:solidFill>
            </a:endParaRPr>
          </a:p>
          <a:p>
            <a:pPr indent="0" lvl="0" marL="0" rtl="0" algn="l">
              <a:spcBef>
                <a:spcPts val="0"/>
              </a:spcBef>
              <a:spcAft>
                <a:spcPts val="0"/>
              </a:spcAft>
              <a:buNone/>
            </a:pPr>
            <a:r>
              <a:rPr lang="en" sz="1600">
                <a:solidFill>
                  <a:srgbClr val="434343"/>
                </a:solidFill>
              </a:rPr>
              <a:t>V</a:t>
            </a:r>
            <a:r>
              <a:rPr lang="en" sz="1600">
                <a:solidFill>
                  <a:srgbClr val="434343"/>
                </a:solidFill>
              </a:rPr>
              <a:t>ariance: </a:t>
            </a:r>
            <a:r>
              <a:rPr b="1" lang="en" sz="1600">
                <a:solidFill>
                  <a:srgbClr val="434343"/>
                </a:solidFill>
              </a:rPr>
              <a:t>20</a:t>
            </a:r>
            <a:endParaRPr b="1" sz="1600">
              <a:solidFill>
                <a:srgbClr val="434343"/>
              </a:solidFill>
            </a:endParaRPr>
          </a:p>
          <a:p>
            <a:pPr indent="0" lvl="0" marL="0" rtl="0" algn="l">
              <a:spcBef>
                <a:spcPts val="0"/>
              </a:spcBef>
              <a:spcAft>
                <a:spcPts val="0"/>
              </a:spcAft>
              <a:buNone/>
            </a:pPr>
            <a:r>
              <a:rPr b="1" lang="en" sz="1600">
                <a:solidFill>
                  <a:srgbClr val="434343"/>
                </a:solidFill>
              </a:rPr>
              <a:t>Reduced shape: (1460, 20)</a:t>
            </a:r>
            <a:endParaRPr b="1" sz="1600">
              <a:solidFill>
                <a:srgbClr val="43434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Solution</a:t>
            </a:r>
            <a:endParaRPr/>
          </a:p>
        </p:txBody>
      </p:sp>
      <p:sp>
        <p:nvSpPr>
          <p:cNvPr id="138" name="Google Shape;138;p23"/>
          <p:cNvSpPr txBox="1"/>
          <p:nvPr>
            <p:ph idx="1" type="body"/>
          </p:nvPr>
        </p:nvSpPr>
        <p:spPr>
          <a:xfrm>
            <a:off x="311700" y="823425"/>
            <a:ext cx="4600800" cy="3719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450"/>
              <a:t>Four Models, One Winner</a:t>
            </a:r>
            <a:br>
              <a:rPr lang="en" sz="1450"/>
            </a:br>
            <a:br>
              <a:rPr b="1" lang="en" sz="1450"/>
            </a:br>
            <a:r>
              <a:rPr b="1" lang="en" sz="1450"/>
              <a:t>Models Tested:</a:t>
            </a:r>
            <a:endParaRPr b="1" sz="1450"/>
          </a:p>
          <a:p>
            <a:pPr indent="-320675" lvl="0" marL="457200" rtl="0" algn="l">
              <a:lnSpc>
                <a:spcPct val="95000"/>
              </a:lnSpc>
              <a:spcBef>
                <a:spcPts val="1200"/>
              </a:spcBef>
              <a:spcAft>
                <a:spcPts val="0"/>
              </a:spcAft>
              <a:buSzPts val="1450"/>
              <a:buChar char="●"/>
            </a:pPr>
            <a:r>
              <a:rPr lang="en" sz="1450"/>
              <a:t>Gradient Boosting ⭐ (Best)</a:t>
            </a:r>
            <a:endParaRPr sz="1450"/>
          </a:p>
          <a:p>
            <a:pPr indent="-320675" lvl="0" marL="457200" rtl="0" algn="l">
              <a:lnSpc>
                <a:spcPct val="95000"/>
              </a:lnSpc>
              <a:spcBef>
                <a:spcPts val="0"/>
              </a:spcBef>
              <a:spcAft>
                <a:spcPts val="0"/>
              </a:spcAft>
              <a:buSzPts val="1450"/>
              <a:buChar char="●"/>
            </a:pPr>
            <a:r>
              <a:rPr lang="en" sz="1450"/>
              <a:t>LightGBM</a:t>
            </a:r>
            <a:endParaRPr sz="1450"/>
          </a:p>
          <a:p>
            <a:pPr indent="-320675" lvl="0" marL="457200" rtl="0" algn="l">
              <a:lnSpc>
                <a:spcPct val="95000"/>
              </a:lnSpc>
              <a:spcBef>
                <a:spcPts val="0"/>
              </a:spcBef>
              <a:spcAft>
                <a:spcPts val="0"/>
              </a:spcAft>
              <a:buSzPts val="1450"/>
              <a:buChar char="●"/>
            </a:pPr>
            <a:r>
              <a:rPr lang="en" sz="1450"/>
              <a:t>Linear Regression</a:t>
            </a:r>
            <a:endParaRPr sz="1450"/>
          </a:p>
          <a:p>
            <a:pPr indent="-320675" lvl="0" marL="457200" rtl="0" algn="l">
              <a:lnSpc>
                <a:spcPct val="95000"/>
              </a:lnSpc>
              <a:spcBef>
                <a:spcPts val="0"/>
              </a:spcBef>
              <a:spcAft>
                <a:spcPts val="0"/>
              </a:spcAft>
              <a:buSzPts val="1450"/>
              <a:buChar char="●"/>
            </a:pPr>
            <a:r>
              <a:rPr lang="en" sz="1450"/>
              <a:t>Tuned SVR</a:t>
            </a:r>
            <a:endParaRPr sz="1450"/>
          </a:p>
          <a:p>
            <a:pPr indent="0" lvl="0" marL="0" rtl="0" algn="l">
              <a:lnSpc>
                <a:spcPct val="95000"/>
              </a:lnSpc>
              <a:spcBef>
                <a:spcPts val="1200"/>
              </a:spcBef>
              <a:spcAft>
                <a:spcPts val="0"/>
              </a:spcAft>
              <a:buSzPts val="275"/>
              <a:buNone/>
            </a:pPr>
            <a:r>
              <a:rPr b="1" lang="en" sz="1450"/>
              <a:t>Why Gradient Boosting Won:</a:t>
            </a:r>
            <a:endParaRPr b="1" sz="1450"/>
          </a:p>
          <a:p>
            <a:pPr indent="-320675" lvl="0" marL="457200" rtl="0" algn="l">
              <a:lnSpc>
                <a:spcPct val="95000"/>
              </a:lnSpc>
              <a:spcBef>
                <a:spcPts val="1200"/>
              </a:spcBef>
              <a:spcAft>
                <a:spcPts val="0"/>
              </a:spcAft>
              <a:buSzPts val="1450"/>
              <a:buChar char="●"/>
            </a:pPr>
            <a:r>
              <a:rPr lang="en" sz="1450"/>
              <a:t>Handles non-linear relationships</a:t>
            </a:r>
            <a:endParaRPr sz="1450"/>
          </a:p>
          <a:p>
            <a:pPr indent="-320675" lvl="0" marL="457200" rtl="0" algn="l">
              <a:lnSpc>
                <a:spcPct val="95000"/>
              </a:lnSpc>
              <a:spcBef>
                <a:spcPts val="0"/>
              </a:spcBef>
              <a:spcAft>
                <a:spcPts val="0"/>
              </a:spcAft>
              <a:buSzPts val="1450"/>
              <a:buChar char="●"/>
            </a:pPr>
            <a:r>
              <a:rPr lang="en" sz="1450"/>
              <a:t>Captures feature interactions</a:t>
            </a:r>
            <a:endParaRPr sz="1450"/>
          </a:p>
          <a:p>
            <a:pPr indent="-320675" lvl="0" marL="457200" rtl="0" algn="l">
              <a:lnSpc>
                <a:spcPct val="95000"/>
              </a:lnSpc>
              <a:spcBef>
                <a:spcPts val="0"/>
              </a:spcBef>
              <a:spcAft>
                <a:spcPts val="0"/>
              </a:spcAft>
              <a:buSzPts val="1450"/>
              <a:buChar char="●"/>
            </a:pPr>
            <a:r>
              <a:rPr lang="en" sz="1450"/>
              <a:t>Robust to outliers</a:t>
            </a:r>
            <a:endParaRPr sz="1450"/>
          </a:p>
          <a:p>
            <a:pPr indent="-320675" lvl="0" marL="457200" rtl="0" algn="l">
              <a:lnSpc>
                <a:spcPct val="95000"/>
              </a:lnSpc>
              <a:spcBef>
                <a:spcPts val="0"/>
              </a:spcBef>
              <a:spcAft>
                <a:spcPts val="0"/>
              </a:spcAft>
              <a:buSzPts val="1450"/>
              <a:buChar char="●"/>
            </a:pPr>
            <a:r>
              <a:rPr lang="en" sz="1450"/>
              <a:t>Best performance on PCA-reduced features</a:t>
            </a:r>
            <a:endParaRPr sz="1450"/>
          </a:p>
        </p:txBody>
      </p:sp>
      <p:sp>
        <p:nvSpPr>
          <p:cNvPr id="139" name="Google Shape;139;p23"/>
          <p:cNvSpPr txBox="1"/>
          <p:nvPr>
            <p:ph idx="1" type="body"/>
          </p:nvPr>
        </p:nvSpPr>
        <p:spPr>
          <a:xfrm>
            <a:off x="5155550" y="915550"/>
            <a:ext cx="3676800" cy="3627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en" sz="1450"/>
              <a:t>Training Strategy:</a:t>
            </a:r>
            <a:endParaRPr b="1" sz="1450"/>
          </a:p>
          <a:p>
            <a:pPr indent="-320675" lvl="0" marL="457200" rtl="0" algn="l">
              <a:lnSpc>
                <a:spcPct val="95000"/>
              </a:lnSpc>
              <a:spcBef>
                <a:spcPts val="1200"/>
              </a:spcBef>
              <a:spcAft>
                <a:spcPts val="0"/>
              </a:spcAft>
              <a:buSzPts val="1450"/>
              <a:buChar char="●"/>
            </a:pPr>
            <a:r>
              <a:rPr lang="en" sz="1450"/>
              <a:t>Log-transformed target (normalized distribution)</a:t>
            </a:r>
            <a:endParaRPr sz="1450"/>
          </a:p>
          <a:p>
            <a:pPr indent="-320675" lvl="0" marL="457200" rtl="0" algn="l">
              <a:lnSpc>
                <a:spcPct val="95000"/>
              </a:lnSpc>
              <a:spcBef>
                <a:spcPts val="0"/>
              </a:spcBef>
              <a:spcAft>
                <a:spcPts val="0"/>
              </a:spcAft>
              <a:buSzPts val="1450"/>
              <a:buChar char="●"/>
            </a:pPr>
            <a:r>
              <a:rPr lang="en" sz="1450"/>
              <a:t>80/20 train-test split</a:t>
            </a:r>
            <a:endParaRPr sz="1450"/>
          </a:p>
          <a:p>
            <a:pPr indent="-320675" lvl="0" marL="457200" rtl="0" algn="l">
              <a:lnSpc>
                <a:spcPct val="95000"/>
              </a:lnSpc>
              <a:spcBef>
                <a:spcPts val="0"/>
              </a:spcBef>
              <a:spcAft>
                <a:spcPts val="0"/>
              </a:spcAft>
              <a:buSzPts val="1450"/>
              <a:buChar char="●"/>
            </a:pPr>
            <a:r>
              <a:rPr lang="en" sz="1450"/>
              <a:t>PCA-reduced features (20 components)</a:t>
            </a:r>
            <a:endParaRPr sz="1450"/>
          </a:p>
          <a:p>
            <a:pPr indent="-320675" lvl="0" marL="457200" rtl="0" algn="l">
              <a:lnSpc>
                <a:spcPct val="95000"/>
              </a:lnSpc>
              <a:spcBef>
                <a:spcPts val="0"/>
              </a:spcBef>
              <a:spcAft>
                <a:spcPts val="0"/>
              </a:spcAft>
              <a:buSzPts val="1450"/>
              <a:buChar char="●"/>
            </a:pPr>
            <a:r>
              <a:rPr lang="en" sz="1450"/>
              <a:t>Hyperparameter tuning for SVR</a:t>
            </a:r>
            <a:endParaRPr sz="14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1036425" y="377788"/>
            <a:ext cx="7412149" cy="42355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Results</a:t>
            </a:r>
            <a:endParaRPr/>
          </a:p>
        </p:txBody>
      </p:sp>
      <p:sp>
        <p:nvSpPr>
          <p:cNvPr id="150" name="Google Shape;150;p25"/>
          <p:cNvSpPr txBox="1"/>
          <p:nvPr>
            <p:ph idx="1" type="body"/>
          </p:nvPr>
        </p:nvSpPr>
        <p:spPr>
          <a:xfrm>
            <a:off x="321746" y="771475"/>
            <a:ext cx="4148700" cy="434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358"/>
              <a:buNone/>
            </a:pPr>
            <a:r>
              <a:rPr b="1" lang="en" sz="1685"/>
              <a:t>90.4%</a:t>
            </a:r>
            <a:r>
              <a:rPr lang="en" sz="1685"/>
              <a:t> Accuracy Achieved</a:t>
            </a:r>
            <a:endParaRPr sz="1385"/>
          </a:p>
        </p:txBody>
      </p:sp>
      <p:sp>
        <p:nvSpPr>
          <p:cNvPr id="151" name="Google Shape;151;p25"/>
          <p:cNvSpPr txBox="1"/>
          <p:nvPr>
            <p:ph idx="1" type="body"/>
          </p:nvPr>
        </p:nvSpPr>
        <p:spPr>
          <a:xfrm>
            <a:off x="427975" y="3327725"/>
            <a:ext cx="4148700" cy="1346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358"/>
              <a:buNone/>
            </a:pPr>
            <a:r>
              <a:rPr b="1" lang="en" sz="1385"/>
              <a:t>What This Means:</a:t>
            </a:r>
            <a:endParaRPr b="1" sz="1385"/>
          </a:p>
          <a:p>
            <a:pPr indent="-316547" lvl="0" marL="457200" rtl="0" algn="l">
              <a:lnSpc>
                <a:spcPct val="95000"/>
              </a:lnSpc>
              <a:spcBef>
                <a:spcPts val="1200"/>
              </a:spcBef>
              <a:spcAft>
                <a:spcPts val="0"/>
              </a:spcAft>
              <a:buSzPts val="1385"/>
              <a:buChar char="❖"/>
            </a:pPr>
            <a:r>
              <a:rPr lang="en" sz="1385"/>
              <a:t>Model explains 90.4% of price variance</a:t>
            </a:r>
            <a:endParaRPr sz="1385"/>
          </a:p>
          <a:p>
            <a:pPr indent="-316547" lvl="0" marL="457200" rtl="0" algn="l">
              <a:lnSpc>
                <a:spcPct val="95000"/>
              </a:lnSpc>
              <a:spcBef>
                <a:spcPts val="0"/>
              </a:spcBef>
              <a:spcAft>
                <a:spcPts val="0"/>
              </a:spcAft>
              <a:buSzPts val="1385"/>
              <a:buChar char="❖"/>
            </a:pPr>
            <a:r>
              <a:rPr lang="en" sz="1385"/>
              <a:t>Predictions are within 12.7% error (log scale)</a:t>
            </a:r>
            <a:endParaRPr sz="1385"/>
          </a:p>
          <a:p>
            <a:pPr indent="-316547" lvl="0" marL="457200" rtl="0" algn="l">
              <a:lnSpc>
                <a:spcPct val="95000"/>
              </a:lnSpc>
              <a:spcBef>
                <a:spcPts val="0"/>
              </a:spcBef>
              <a:spcAft>
                <a:spcPts val="0"/>
              </a:spcAft>
              <a:buSzPts val="1385"/>
              <a:buChar char="❖"/>
            </a:pPr>
            <a:r>
              <a:rPr lang="en" sz="1385"/>
              <a:t>Top 3 models all exceed 89% accuracy</a:t>
            </a:r>
            <a:endParaRPr sz="1385"/>
          </a:p>
          <a:p>
            <a:pPr indent="-316547" lvl="0" marL="457200" rtl="0" algn="l">
              <a:lnSpc>
                <a:spcPct val="95000"/>
              </a:lnSpc>
              <a:spcBef>
                <a:spcPts val="0"/>
              </a:spcBef>
              <a:spcAft>
                <a:spcPts val="0"/>
              </a:spcAft>
              <a:buSzPts val="1385"/>
              <a:buChar char="❖"/>
            </a:pPr>
            <a:r>
              <a:rPr lang="en" sz="1385"/>
              <a:t>Robust and reliable predictions</a:t>
            </a:r>
            <a:endParaRPr sz="1385"/>
          </a:p>
        </p:txBody>
      </p:sp>
      <p:graphicFrame>
        <p:nvGraphicFramePr>
          <p:cNvPr id="152" name="Google Shape;152;p25"/>
          <p:cNvGraphicFramePr/>
          <p:nvPr/>
        </p:nvGraphicFramePr>
        <p:xfrm>
          <a:off x="427975" y="1344591"/>
          <a:ext cx="3000000" cy="3000000"/>
        </p:xfrm>
        <a:graphic>
          <a:graphicData uri="http://schemas.openxmlformats.org/drawingml/2006/table">
            <a:tbl>
              <a:tblPr>
                <a:noFill/>
                <a:tableStyleId>{A2909345-7536-4963-97A1-C47C0D06BAD6}</a:tableStyleId>
              </a:tblPr>
              <a:tblGrid>
                <a:gridCol w="1809750"/>
                <a:gridCol w="1809750"/>
                <a:gridCol w="1809750"/>
                <a:gridCol w="1809750"/>
              </a:tblGrid>
              <a:tr h="381000">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Model</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R² Score</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RMSE (log)</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Performance</a:t>
                      </a:r>
                      <a:endParaRPr/>
                    </a:p>
                  </a:txBody>
                  <a:tcPr marT="91425" marB="91425" marR="91425" marL="91425"/>
                </a:tc>
              </a:tr>
              <a:tr h="381000">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Gradient Boosting</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0.9043</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0.1267</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Best</a:t>
                      </a:r>
                      <a:endParaRPr/>
                    </a:p>
                  </a:txBody>
                  <a:tcPr marT="91425" marB="91425" marR="91425" marL="91425"/>
                </a:tc>
              </a:tr>
              <a:tr h="381000">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LightGBM</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0.9001</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0.1295</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Excellent</a:t>
                      </a:r>
                      <a:endParaRPr/>
                    </a:p>
                  </a:txBody>
                  <a:tcPr marT="91425" marB="91425" marR="91425" marL="91425"/>
                </a:tc>
              </a:tr>
              <a:tr h="381000">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Linear Regression</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0.8942</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0.1333</a:t>
                      </a:r>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Good</a:t>
                      </a:r>
                      <a:endParaRPr/>
                    </a:p>
                  </a:txBody>
                  <a:tcPr marT="91425" marB="91425" marR="91425" marL="91425"/>
                </a:tc>
              </a:tr>
              <a:tr h="381000">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Tuned SVR</a:t>
                      </a:r>
                      <a:endParaRPr sz="1385">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0.8801</a:t>
                      </a:r>
                      <a:endParaRPr sz="1385">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0.1419</a:t>
                      </a:r>
                      <a:endParaRPr sz="1385">
                        <a:solidFill>
                          <a:schemeClr val="accent3"/>
                        </a:solidFill>
                        <a:latin typeface="Proxima Nova"/>
                        <a:ea typeface="Proxima Nova"/>
                        <a:cs typeface="Proxima Nova"/>
                        <a:sym typeface="Proxima Nova"/>
                      </a:endParaRPr>
                    </a:p>
                  </a:txBody>
                  <a:tcPr marT="91425" marB="91425" marR="91425" marL="91425"/>
                </a:tc>
                <a:tc>
                  <a:txBody>
                    <a:bodyPr/>
                    <a:lstStyle/>
                    <a:p>
                      <a:pPr indent="0" lvl="0" marL="0" rtl="0" algn="l">
                        <a:lnSpc>
                          <a:spcPct val="95000"/>
                        </a:lnSpc>
                        <a:spcBef>
                          <a:spcPts val="0"/>
                        </a:spcBef>
                        <a:spcAft>
                          <a:spcPts val="1200"/>
                        </a:spcAft>
                        <a:buClr>
                          <a:srgbClr val="000000"/>
                        </a:buClr>
                        <a:buSzPts val="358"/>
                        <a:buFont typeface="Arial"/>
                        <a:buNone/>
                      </a:pPr>
                      <a:r>
                        <a:rPr lang="en" sz="1385">
                          <a:solidFill>
                            <a:schemeClr val="accent3"/>
                          </a:solidFill>
                          <a:latin typeface="Proxima Nova"/>
                          <a:ea typeface="Proxima Nova"/>
                          <a:cs typeface="Proxima Nova"/>
                          <a:sym typeface="Proxima Nova"/>
                        </a:rPr>
                        <a:t>Good</a:t>
                      </a:r>
                      <a:endParaRPr sz="1385">
                        <a:solidFill>
                          <a:schemeClr val="accent3"/>
                        </a:solidFill>
                        <a:latin typeface="Proxima Nova"/>
                        <a:ea typeface="Proxima Nova"/>
                        <a:cs typeface="Proxima Nova"/>
                        <a:sym typeface="Proxima Nova"/>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6"/>
          <p:cNvPicPr preferRelativeResize="0"/>
          <p:nvPr/>
        </p:nvPicPr>
        <p:blipFill>
          <a:blip r:embed="rId3">
            <a:alphaModFix/>
          </a:blip>
          <a:stretch>
            <a:fillRect/>
          </a:stretch>
        </p:blipFill>
        <p:spPr>
          <a:xfrm>
            <a:off x="172492" y="304800"/>
            <a:ext cx="4233863" cy="2419350"/>
          </a:xfrm>
          <a:prstGeom prst="rect">
            <a:avLst/>
          </a:prstGeom>
          <a:noFill/>
          <a:ln>
            <a:noFill/>
          </a:ln>
        </p:spPr>
      </p:pic>
      <p:pic>
        <p:nvPicPr>
          <p:cNvPr id="158" name="Google Shape;158;p26"/>
          <p:cNvPicPr preferRelativeResize="0"/>
          <p:nvPr/>
        </p:nvPicPr>
        <p:blipFill>
          <a:blip r:embed="rId4">
            <a:alphaModFix/>
          </a:blip>
          <a:stretch>
            <a:fillRect/>
          </a:stretch>
        </p:blipFill>
        <p:spPr>
          <a:xfrm>
            <a:off x="4409554" y="339407"/>
            <a:ext cx="4398474" cy="3770118"/>
          </a:xfrm>
          <a:prstGeom prst="rect">
            <a:avLst/>
          </a:prstGeom>
          <a:noFill/>
          <a:ln>
            <a:noFill/>
          </a:ln>
        </p:spPr>
      </p:pic>
      <p:sp>
        <p:nvSpPr>
          <p:cNvPr id="159" name="Google Shape;159;p26"/>
          <p:cNvSpPr txBox="1"/>
          <p:nvPr/>
        </p:nvSpPr>
        <p:spPr>
          <a:xfrm>
            <a:off x="653000" y="2808700"/>
            <a:ext cx="37566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34343"/>
                </a:solidFill>
              </a:rPr>
              <a:t>R² Chart:</a:t>
            </a:r>
            <a:r>
              <a:rPr lang="en">
                <a:solidFill>
                  <a:srgbClr val="434343"/>
                </a:solidFill>
              </a:rPr>
              <a:t> Gradient Boosting leads with 90.4% R², outperforming all other models.</a:t>
            </a:r>
            <a:endParaRPr>
              <a:solidFill>
                <a:srgbClr val="434343"/>
              </a:solidFill>
            </a:endParaRPr>
          </a:p>
          <a:p>
            <a:pPr indent="0" lvl="0" marL="0" rtl="0" algn="l">
              <a:spcBef>
                <a:spcPts val="0"/>
              </a:spcBef>
              <a:spcAft>
                <a:spcPts val="0"/>
              </a:spcAft>
              <a:buNone/>
            </a:pPr>
            <a:r>
              <a:t/>
            </a:r>
            <a:endParaRPr>
              <a:solidFill>
                <a:srgbClr val="434343"/>
              </a:solidFill>
            </a:endParaRPr>
          </a:p>
          <a:p>
            <a:pPr indent="0" lvl="0" marL="0" rtl="0" algn="l">
              <a:spcBef>
                <a:spcPts val="0"/>
              </a:spcBef>
              <a:spcAft>
                <a:spcPts val="0"/>
              </a:spcAft>
              <a:buNone/>
            </a:pPr>
            <a:r>
              <a:rPr b="1" lang="en">
                <a:solidFill>
                  <a:srgbClr val="434343"/>
                </a:solidFill>
              </a:rPr>
              <a:t>Scatter Plot:</a:t>
            </a:r>
            <a:r>
              <a:rPr lang="en">
                <a:solidFill>
                  <a:srgbClr val="434343"/>
                </a:solidFill>
              </a:rPr>
              <a:t> The tight clustering of points around the diagonal line confirms the model accurately predicts house prices across all price ranges.</a:t>
            </a:r>
            <a:endParaRPr>
              <a:solidFill>
                <a:srgbClr val="43434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Insights</a:t>
            </a:r>
            <a:endParaRPr/>
          </a:p>
        </p:txBody>
      </p:sp>
      <p:sp>
        <p:nvSpPr>
          <p:cNvPr id="165" name="Google Shape;165;p27"/>
          <p:cNvSpPr txBox="1"/>
          <p:nvPr>
            <p:ph idx="1" type="body"/>
          </p:nvPr>
        </p:nvSpPr>
        <p:spPr>
          <a:xfrm>
            <a:off x="311700" y="923875"/>
            <a:ext cx="43698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350"/>
              <a:t>What We Learned About House Prices</a:t>
            </a:r>
            <a:endParaRPr sz="1350"/>
          </a:p>
          <a:p>
            <a:pPr indent="0" lvl="0" marL="0" rtl="0" algn="l">
              <a:lnSpc>
                <a:spcPct val="95000"/>
              </a:lnSpc>
              <a:spcBef>
                <a:spcPts val="1200"/>
              </a:spcBef>
              <a:spcAft>
                <a:spcPts val="0"/>
              </a:spcAft>
              <a:buSzPts val="275"/>
              <a:buNone/>
            </a:pPr>
            <a:r>
              <a:rPr b="1" lang="en" sz="1350"/>
              <a:t>Top 5 Price Drivers:</a:t>
            </a:r>
            <a:endParaRPr b="1" sz="1350"/>
          </a:p>
          <a:p>
            <a:pPr indent="-314325" lvl="0" marL="457200" rtl="0" algn="l">
              <a:lnSpc>
                <a:spcPct val="95000"/>
              </a:lnSpc>
              <a:spcBef>
                <a:spcPts val="1200"/>
              </a:spcBef>
              <a:spcAft>
                <a:spcPts val="0"/>
              </a:spcAft>
              <a:buSzPts val="1350"/>
              <a:buAutoNum type="arabicPeriod"/>
            </a:pPr>
            <a:r>
              <a:rPr lang="en" sz="1350"/>
              <a:t>Total Square Footage (46.4% importance)</a:t>
            </a:r>
            <a:endParaRPr sz="1350"/>
          </a:p>
          <a:p>
            <a:pPr indent="-314325" lvl="0" marL="457200" rtl="0" algn="l">
              <a:lnSpc>
                <a:spcPct val="95000"/>
              </a:lnSpc>
              <a:spcBef>
                <a:spcPts val="0"/>
              </a:spcBef>
              <a:spcAft>
                <a:spcPts val="0"/>
              </a:spcAft>
              <a:buSzPts val="1350"/>
              <a:buAutoNum type="arabicPeriod"/>
            </a:pPr>
            <a:r>
              <a:rPr lang="en" sz="1350"/>
              <a:t>Overall Quality (31.8% importance)</a:t>
            </a:r>
            <a:endParaRPr sz="1350"/>
          </a:p>
          <a:p>
            <a:pPr indent="-314325" lvl="0" marL="457200" rtl="0" algn="l">
              <a:lnSpc>
                <a:spcPct val="95000"/>
              </a:lnSpc>
              <a:spcBef>
                <a:spcPts val="0"/>
              </a:spcBef>
              <a:spcAft>
                <a:spcPts val="0"/>
              </a:spcAft>
              <a:buSzPts val="1350"/>
              <a:buAutoNum type="arabicPeriod"/>
            </a:pPr>
            <a:r>
              <a:rPr lang="en" sz="1350"/>
              <a:t>Quality Score (2.6% importance)</a:t>
            </a:r>
            <a:endParaRPr sz="1350"/>
          </a:p>
          <a:p>
            <a:pPr indent="-314325" lvl="0" marL="457200" rtl="0" algn="l">
              <a:lnSpc>
                <a:spcPct val="95000"/>
              </a:lnSpc>
              <a:spcBef>
                <a:spcPts val="0"/>
              </a:spcBef>
              <a:spcAft>
                <a:spcPts val="0"/>
              </a:spcAft>
              <a:buSzPts val="1350"/>
              <a:buAutoNum type="arabicPeriod"/>
            </a:pPr>
            <a:r>
              <a:rPr lang="en" sz="1350"/>
              <a:t>Year Built (1.8% importance)</a:t>
            </a:r>
            <a:endParaRPr sz="1350"/>
          </a:p>
          <a:p>
            <a:pPr indent="-314325" lvl="0" marL="457200" rtl="0" algn="l">
              <a:lnSpc>
                <a:spcPct val="95000"/>
              </a:lnSpc>
              <a:spcBef>
                <a:spcPts val="0"/>
              </a:spcBef>
              <a:spcAft>
                <a:spcPts val="0"/>
              </a:spcAft>
              <a:buSzPts val="1350"/>
              <a:buAutoNum type="arabicPeriod"/>
            </a:pPr>
            <a:r>
              <a:rPr lang="en" sz="1350"/>
              <a:t>Lot Area (1.2% importance)</a:t>
            </a:r>
            <a:endParaRPr sz="1350"/>
          </a:p>
          <a:p>
            <a:pPr indent="0" lvl="0" marL="0" rtl="0" algn="l">
              <a:lnSpc>
                <a:spcPct val="95000"/>
              </a:lnSpc>
              <a:spcBef>
                <a:spcPts val="1200"/>
              </a:spcBef>
              <a:spcAft>
                <a:spcPts val="0"/>
              </a:spcAft>
              <a:buSzPts val="275"/>
              <a:buNone/>
            </a:pPr>
            <a:r>
              <a:rPr b="1" lang="en" sz="1350"/>
              <a:t>Business Recommendations:</a:t>
            </a:r>
            <a:endParaRPr b="1" sz="1350"/>
          </a:p>
          <a:p>
            <a:pPr indent="-314325" lvl="0" marL="457200" rtl="0" algn="l">
              <a:lnSpc>
                <a:spcPct val="95000"/>
              </a:lnSpc>
              <a:spcBef>
                <a:spcPts val="1200"/>
              </a:spcBef>
              <a:spcAft>
                <a:spcPts val="0"/>
              </a:spcAft>
              <a:buSzPts val="1350"/>
              <a:buChar char="❖"/>
            </a:pPr>
            <a:r>
              <a:rPr b="1" lang="en" sz="1350"/>
              <a:t>Size investments</a:t>
            </a:r>
            <a:r>
              <a:rPr lang="en" sz="1350"/>
              <a:t> yield highest ROI</a:t>
            </a:r>
            <a:endParaRPr sz="1350"/>
          </a:p>
          <a:p>
            <a:pPr indent="-314325" lvl="0" marL="457200" rtl="0" algn="l">
              <a:lnSpc>
                <a:spcPct val="95000"/>
              </a:lnSpc>
              <a:spcBef>
                <a:spcPts val="0"/>
              </a:spcBef>
              <a:spcAft>
                <a:spcPts val="0"/>
              </a:spcAft>
              <a:buSzPts val="1350"/>
              <a:buChar char="❖"/>
            </a:pPr>
            <a:r>
              <a:rPr b="1" lang="en" sz="1350"/>
              <a:t>Quality improvements</a:t>
            </a:r>
            <a:r>
              <a:rPr lang="en" sz="1350"/>
              <a:t> significantly boost value</a:t>
            </a:r>
            <a:endParaRPr sz="1350"/>
          </a:p>
          <a:p>
            <a:pPr indent="-314325" lvl="0" marL="457200" rtl="0" algn="l">
              <a:lnSpc>
                <a:spcPct val="95000"/>
              </a:lnSpc>
              <a:spcBef>
                <a:spcPts val="0"/>
              </a:spcBef>
              <a:spcAft>
                <a:spcPts val="0"/>
              </a:spcAft>
              <a:buSzPts val="1350"/>
              <a:buChar char="❖"/>
            </a:pPr>
            <a:r>
              <a:rPr b="1" lang="en" sz="1350"/>
              <a:t>Age matters</a:t>
            </a:r>
            <a:r>
              <a:rPr lang="en" sz="1350"/>
              <a:t> but can be offset by quality</a:t>
            </a:r>
            <a:endParaRPr sz="1350"/>
          </a:p>
          <a:p>
            <a:pPr indent="-314325" lvl="0" marL="457200" rtl="0" algn="l">
              <a:lnSpc>
                <a:spcPct val="95000"/>
              </a:lnSpc>
              <a:spcBef>
                <a:spcPts val="0"/>
              </a:spcBef>
              <a:spcAft>
                <a:spcPts val="0"/>
              </a:spcAft>
              <a:buSzPts val="1350"/>
              <a:buChar char="❖"/>
            </a:pPr>
            <a:r>
              <a:rPr b="1" lang="en" sz="1350"/>
              <a:t>Location</a:t>
            </a:r>
            <a:r>
              <a:rPr lang="en" sz="1350"/>
              <a:t> matters less than quality and size</a:t>
            </a:r>
            <a:endParaRPr sz="1350"/>
          </a:p>
        </p:txBody>
      </p:sp>
      <p:sp>
        <p:nvSpPr>
          <p:cNvPr id="166" name="Google Shape;166;p27"/>
          <p:cNvSpPr txBox="1"/>
          <p:nvPr/>
        </p:nvSpPr>
        <p:spPr>
          <a:xfrm>
            <a:off x="5213825" y="1271662"/>
            <a:ext cx="3000000" cy="11283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b="1" lang="en" sz="1350">
                <a:solidFill>
                  <a:schemeClr val="accent3"/>
                </a:solidFill>
                <a:latin typeface="Proxima Nova"/>
                <a:ea typeface="Proxima Nova"/>
                <a:cs typeface="Proxima Nova"/>
                <a:sym typeface="Proxima Nova"/>
              </a:rPr>
              <a:t>15 Features</a:t>
            </a:r>
            <a:r>
              <a:rPr lang="en" sz="1350">
                <a:solidFill>
                  <a:schemeClr val="accent3"/>
                </a:solidFill>
                <a:latin typeface="Proxima Nova"/>
                <a:ea typeface="Proxima Nova"/>
                <a:cs typeface="Proxima Nova"/>
                <a:sym typeface="Proxima Nova"/>
              </a:rPr>
              <a:t> consistently selected across all methods:</a:t>
            </a:r>
            <a:endParaRPr sz="1350">
              <a:solidFill>
                <a:schemeClr val="accent3"/>
              </a:solidFill>
              <a:latin typeface="Proxima Nova"/>
              <a:ea typeface="Proxima Nova"/>
              <a:cs typeface="Proxima Nova"/>
              <a:sym typeface="Proxima Nova"/>
            </a:endParaRPr>
          </a:p>
          <a:p>
            <a:pPr indent="0" lvl="0" marL="0" rtl="0" algn="l">
              <a:lnSpc>
                <a:spcPct val="95000"/>
              </a:lnSpc>
              <a:spcBef>
                <a:spcPts val="1200"/>
              </a:spcBef>
              <a:spcAft>
                <a:spcPts val="1200"/>
              </a:spcAft>
              <a:buNone/>
            </a:pPr>
            <a:r>
              <a:rPr lang="en" sz="1350">
                <a:solidFill>
                  <a:schemeClr val="accent3"/>
                </a:solidFill>
                <a:latin typeface="Proxima Nova"/>
                <a:ea typeface="Proxima Nova"/>
                <a:cs typeface="Proxima Nova"/>
                <a:sym typeface="Proxima Nova"/>
              </a:rPr>
              <a:t>TotalSF</a:t>
            </a:r>
            <a:r>
              <a:rPr lang="en" sz="1350">
                <a:solidFill>
                  <a:schemeClr val="accent3"/>
                </a:solidFill>
                <a:latin typeface="Proxima Nova"/>
                <a:ea typeface="Proxima Nova"/>
                <a:cs typeface="Proxima Nova"/>
                <a:sym typeface="Proxima Nova"/>
              </a:rPr>
              <a:t>, </a:t>
            </a:r>
            <a:r>
              <a:rPr lang="en" sz="1350">
                <a:solidFill>
                  <a:schemeClr val="accent3"/>
                </a:solidFill>
                <a:latin typeface="Proxima Nova"/>
                <a:ea typeface="Proxima Nova"/>
                <a:cs typeface="Proxima Nova"/>
                <a:sym typeface="Proxima Nova"/>
              </a:rPr>
              <a:t>OverallQual</a:t>
            </a:r>
            <a:r>
              <a:rPr lang="en" sz="1350">
                <a:solidFill>
                  <a:schemeClr val="accent3"/>
                </a:solidFill>
                <a:latin typeface="Proxima Nova"/>
                <a:ea typeface="Proxima Nova"/>
                <a:cs typeface="Proxima Nova"/>
                <a:sym typeface="Proxima Nova"/>
              </a:rPr>
              <a:t>, </a:t>
            </a:r>
            <a:r>
              <a:rPr lang="en" sz="1350">
                <a:solidFill>
                  <a:schemeClr val="accent3"/>
                </a:solidFill>
                <a:latin typeface="Proxima Nova"/>
                <a:ea typeface="Proxima Nova"/>
                <a:cs typeface="Proxima Nova"/>
                <a:sym typeface="Proxima Nova"/>
              </a:rPr>
              <a:t>GrLivArea, GarageArea, TotalBath, and 10 more</a:t>
            </a:r>
            <a:endParaRPr sz="1350">
              <a:solidFill>
                <a:schemeClr val="accent3"/>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p:cNvPicPr preferRelativeResize="0"/>
          <p:nvPr/>
        </p:nvPicPr>
        <p:blipFill>
          <a:blip r:embed="rId3">
            <a:alphaModFix/>
          </a:blip>
          <a:stretch>
            <a:fillRect/>
          </a:stretch>
        </p:blipFill>
        <p:spPr>
          <a:xfrm>
            <a:off x="152400" y="609600"/>
            <a:ext cx="4729900" cy="4054200"/>
          </a:xfrm>
          <a:prstGeom prst="rect">
            <a:avLst/>
          </a:prstGeom>
          <a:noFill/>
          <a:ln>
            <a:noFill/>
          </a:ln>
        </p:spPr>
      </p:pic>
      <p:sp>
        <p:nvSpPr>
          <p:cNvPr id="172" name="Google Shape;172;p28"/>
          <p:cNvSpPr txBox="1"/>
          <p:nvPr/>
        </p:nvSpPr>
        <p:spPr>
          <a:xfrm>
            <a:off x="4998700" y="658875"/>
            <a:ext cx="38979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434343"/>
                </a:solidFill>
              </a:rPr>
              <a:t>Total unique selected features: </a:t>
            </a:r>
            <a:r>
              <a:rPr b="1" lang="en" sz="1300">
                <a:solidFill>
                  <a:srgbClr val="434343"/>
                </a:solidFill>
              </a:rPr>
              <a:t>35</a:t>
            </a:r>
            <a:endParaRPr b="1" sz="1300">
              <a:solidFill>
                <a:srgbClr val="434343"/>
              </a:solidFill>
            </a:endParaRPr>
          </a:p>
          <a:p>
            <a:pPr indent="0" lvl="0" marL="0" rtl="0" algn="l">
              <a:spcBef>
                <a:spcPts val="0"/>
              </a:spcBef>
              <a:spcAft>
                <a:spcPts val="0"/>
              </a:spcAft>
              <a:buNone/>
            </a:pPr>
            <a:r>
              <a:t/>
            </a:r>
            <a:endParaRPr b="1" sz="1300">
              <a:solidFill>
                <a:srgbClr val="434343"/>
              </a:solidFill>
            </a:endParaRPr>
          </a:p>
          <a:p>
            <a:pPr indent="0" lvl="0" marL="0" rtl="0" algn="l">
              <a:spcBef>
                <a:spcPts val="0"/>
              </a:spcBef>
              <a:spcAft>
                <a:spcPts val="0"/>
              </a:spcAft>
              <a:buNone/>
            </a:pPr>
            <a:r>
              <a:rPr lang="en" sz="1300">
                <a:solidFill>
                  <a:srgbClr val="434343"/>
                </a:solidFill>
              </a:rPr>
              <a:t>Total features after PCA: </a:t>
            </a:r>
            <a:r>
              <a:rPr b="1" lang="en" sz="1300">
                <a:solidFill>
                  <a:srgbClr val="434343"/>
                </a:solidFill>
              </a:rPr>
              <a:t>20</a:t>
            </a:r>
            <a:endParaRPr b="1" sz="1300">
              <a:solidFill>
                <a:srgbClr val="434343"/>
              </a:solidFill>
            </a:endParaRPr>
          </a:p>
          <a:p>
            <a:pPr indent="0" lvl="0" marL="0" rtl="0" algn="l">
              <a:spcBef>
                <a:spcPts val="0"/>
              </a:spcBef>
              <a:spcAft>
                <a:spcPts val="0"/>
              </a:spcAft>
              <a:buNone/>
            </a:pPr>
            <a:r>
              <a:t/>
            </a:r>
            <a:endParaRPr b="1" sz="1300">
              <a:solidFill>
                <a:srgbClr val="434343"/>
              </a:solidFill>
            </a:endParaRPr>
          </a:p>
          <a:p>
            <a:pPr indent="0" lvl="0" marL="0" rtl="0" algn="l">
              <a:spcBef>
                <a:spcPts val="0"/>
              </a:spcBef>
              <a:spcAft>
                <a:spcPts val="0"/>
              </a:spcAft>
              <a:buNone/>
            </a:pPr>
            <a:r>
              <a:rPr lang="en" sz="1300">
                <a:solidFill>
                  <a:srgbClr val="434343"/>
                </a:solidFill>
              </a:rPr>
              <a:t>Highly consistent across all </a:t>
            </a:r>
            <a:r>
              <a:rPr lang="en" sz="1300">
                <a:solidFill>
                  <a:srgbClr val="434343"/>
                </a:solidFill>
              </a:rPr>
              <a:t>methods: </a:t>
            </a:r>
            <a:r>
              <a:rPr b="1" lang="en" sz="1300">
                <a:solidFill>
                  <a:srgbClr val="434343"/>
                </a:solidFill>
              </a:rPr>
              <a:t>15</a:t>
            </a:r>
            <a:endParaRPr b="1" sz="1300">
              <a:solidFill>
                <a:srgbClr val="434343"/>
              </a:solidFill>
            </a:endParaRPr>
          </a:p>
          <a:p>
            <a:pPr indent="0" lvl="0" marL="0" rtl="0" algn="l">
              <a:spcBef>
                <a:spcPts val="0"/>
              </a:spcBef>
              <a:spcAft>
                <a:spcPts val="0"/>
              </a:spcAft>
              <a:buNone/>
            </a:pPr>
            <a:r>
              <a:t/>
            </a:r>
            <a:endParaRPr sz="1300">
              <a:solidFill>
                <a:srgbClr val="434343"/>
              </a:solidFill>
            </a:endParaRPr>
          </a:p>
          <a:p>
            <a:pPr indent="0" lvl="0" marL="0" rtl="0" algn="l">
              <a:spcBef>
                <a:spcPts val="0"/>
              </a:spcBef>
              <a:spcAft>
                <a:spcPts val="0"/>
              </a:spcAft>
              <a:buNone/>
            </a:pPr>
            <a:r>
              <a:rPr lang="en" sz="1300">
                <a:solidFill>
                  <a:srgbClr val="434343"/>
                </a:solidFill>
              </a:rPr>
              <a:t>Common features across ALL methods:</a:t>
            </a:r>
            <a:endParaRPr sz="1300">
              <a:solidFill>
                <a:srgbClr val="434343"/>
              </a:solidFill>
            </a:endParaRPr>
          </a:p>
          <a:p>
            <a:pPr indent="0" lvl="0" marL="0" rtl="0" algn="l">
              <a:spcBef>
                <a:spcPts val="0"/>
              </a:spcBef>
              <a:spcAft>
                <a:spcPts val="0"/>
              </a:spcAft>
              <a:buNone/>
            </a:pPr>
            <a:r>
              <a:t/>
            </a:r>
            <a:endParaRPr sz="1300">
              <a:solidFill>
                <a:srgbClr val="434343"/>
              </a:solidFill>
            </a:endParaRPr>
          </a:p>
          <a:p>
            <a:pPr indent="0" lvl="0" marL="0" rtl="0" algn="l">
              <a:spcBef>
                <a:spcPts val="0"/>
              </a:spcBef>
              <a:spcAft>
                <a:spcPts val="0"/>
              </a:spcAft>
              <a:buNone/>
            </a:pPr>
            <a:r>
              <a:rPr lang="en" sz="1100">
                <a:solidFill>
                  <a:srgbClr val="434343"/>
                </a:solidFill>
                <a:latin typeface="Roboto Mono"/>
                <a:ea typeface="Roboto Mono"/>
                <a:cs typeface="Roboto Mono"/>
                <a:sym typeface="Roboto Mono"/>
              </a:rPr>
              <a:t>['BsmtFinSF1',</a:t>
            </a:r>
            <a:r>
              <a:rPr lang="en" sz="1100">
                <a:solidFill>
                  <a:srgbClr val="434343"/>
                </a:solidFill>
                <a:latin typeface="Roboto Mono"/>
                <a:ea typeface="Roboto Mono"/>
                <a:cs typeface="Roboto Mono"/>
                <a:sym typeface="Roboto Mono"/>
              </a:rPr>
              <a:t> </a:t>
            </a:r>
            <a:r>
              <a:rPr lang="en" sz="1100">
                <a:solidFill>
                  <a:srgbClr val="434343"/>
                </a:solidFill>
                <a:latin typeface="Roboto Mono"/>
                <a:ea typeface="Roboto Mono"/>
                <a:cs typeface="Roboto Mono"/>
                <a:sym typeface="Roboto Mono"/>
              </a:rPr>
              <a:t>'BsmtQual', 'Fireplaces', 'GarageArea', 'GarageCars', 'GrLivArea', 'KitchenQual_TA', 'LotArea', 'MSSubClass', 'OverallQual', 'PropertyAge', 'QualityScore', 'RemodAge', 'TotalBath', 'TotalBsmtSF']</a:t>
            </a:r>
            <a:endParaRPr sz="1100">
              <a:solidFill>
                <a:srgbClr val="434343"/>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Impact</a:t>
            </a:r>
            <a:endParaRPr/>
          </a:p>
        </p:txBody>
      </p:sp>
      <p:sp>
        <p:nvSpPr>
          <p:cNvPr id="178" name="Google Shape;178;p29"/>
          <p:cNvSpPr txBox="1"/>
          <p:nvPr>
            <p:ph idx="1" type="body"/>
          </p:nvPr>
        </p:nvSpPr>
        <p:spPr>
          <a:xfrm>
            <a:off x="311700" y="695275"/>
            <a:ext cx="8520600" cy="3830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350"/>
              <a:t>From Data to Decisions</a:t>
            </a:r>
            <a:endParaRPr sz="1350"/>
          </a:p>
          <a:p>
            <a:pPr indent="0" lvl="0" marL="0" rtl="0" algn="l">
              <a:lnSpc>
                <a:spcPct val="95000"/>
              </a:lnSpc>
              <a:spcBef>
                <a:spcPts val="1200"/>
              </a:spcBef>
              <a:spcAft>
                <a:spcPts val="0"/>
              </a:spcAft>
              <a:buSzPts val="275"/>
              <a:buNone/>
            </a:pPr>
            <a:r>
              <a:rPr b="1" lang="en" sz="1350"/>
              <a:t>What We Built:</a:t>
            </a:r>
            <a:endParaRPr b="1" sz="1350"/>
          </a:p>
          <a:p>
            <a:pPr indent="-314325" lvl="0" marL="457200" rtl="0" algn="l">
              <a:lnSpc>
                <a:spcPct val="95000"/>
              </a:lnSpc>
              <a:spcBef>
                <a:spcPts val="1200"/>
              </a:spcBef>
              <a:spcAft>
                <a:spcPts val="0"/>
              </a:spcAft>
              <a:buSzPts val="1350"/>
              <a:buChar char="❖"/>
            </a:pPr>
            <a:r>
              <a:rPr lang="en" sz="1350"/>
              <a:t>Complete ML pipeline (data → predictions)</a:t>
            </a:r>
            <a:endParaRPr sz="1350"/>
          </a:p>
          <a:p>
            <a:pPr indent="-314325" lvl="0" marL="457200" rtl="0" algn="l">
              <a:lnSpc>
                <a:spcPct val="95000"/>
              </a:lnSpc>
              <a:spcBef>
                <a:spcPts val="0"/>
              </a:spcBef>
              <a:spcAft>
                <a:spcPts val="0"/>
              </a:spcAft>
              <a:buSzPts val="1350"/>
              <a:buChar char="❖"/>
            </a:pPr>
            <a:r>
              <a:rPr lang="en" sz="1350"/>
              <a:t>90.4% accurate price prediction model</a:t>
            </a:r>
            <a:endParaRPr sz="1350"/>
          </a:p>
          <a:p>
            <a:pPr indent="-314325" lvl="0" marL="457200" rtl="0" algn="l">
              <a:lnSpc>
                <a:spcPct val="95000"/>
              </a:lnSpc>
              <a:spcBef>
                <a:spcPts val="0"/>
              </a:spcBef>
              <a:spcAft>
                <a:spcPts val="0"/>
              </a:spcAft>
              <a:buSzPts val="1350"/>
              <a:buChar char="❖"/>
            </a:pPr>
            <a:r>
              <a:rPr lang="en" sz="1350"/>
              <a:t>Multi-method feature selection approach</a:t>
            </a:r>
            <a:endParaRPr sz="1350"/>
          </a:p>
          <a:p>
            <a:pPr indent="-314325" lvl="0" marL="457200" rtl="0" algn="l">
              <a:lnSpc>
                <a:spcPct val="95000"/>
              </a:lnSpc>
              <a:spcBef>
                <a:spcPts val="0"/>
              </a:spcBef>
              <a:spcAft>
                <a:spcPts val="0"/>
              </a:spcAft>
              <a:buSzPts val="1350"/>
              <a:buChar char="❖"/>
            </a:pPr>
            <a:r>
              <a:rPr lang="en" sz="1350"/>
              <a:t>Production-ready model (saved as .pkl)</a:t>
            </a:r>
            <a:endParaRPr sz="1650"/>
          </a:p>
          <a:p>
            <a:pPr indent="0" lvl="0" marL="0" rtl="0" algn="l">
              <a:lnSpc>
                <a:spcPct val="95000"/>
              </a:lnSpc>
              <a:spcBef>
                <a:spcPts val="1200"/>
              </a:spcBef>
              <a:spcAft>
                <a:spcPts val="0"/>
              </a:spcAft>
              <a:buSzPts val="275"/>
              <a:buNone/>
            </a:pPr>
            <a:r>
              <a:rPr b="1" lang="en" sz="1350"/>
              <a:t>Real-World Applications:</a:t>
            </a:r>
            <a:endParaRPr b="1" sz="1350"/>
          </a:p>
          <a:p>
            <a:pPr indent="-314325" lvl="0" marL="457200" rtl="0" algn="l">
              <a:lnSpc>
                <a:spcPct val="95000"/>
              </a:lnSpc>
              <a:spcBef>
                <a:spcPts val="1200"/>
              </a:spcBef>
              <a:spcAft>
                <a:spcPts val="0"/>
              </a:spcAft>
              <a:buSzPts val="1350"/>
              <a:buChar char="❖"/>
            </a:pPr>
            <a:r>
              <a:rPr lang="en" sz="1350"/>
              <a:t>Real Estate: Instant property valuations</a:t>
            </a:r>
            <a:endParaRPr sz="1350"/>
          </a:p>
          <a:p>
            <a:pPr indent="-314325" lvl="0" marL="457200" rtl="0" algn="l">
              <a:lnSpc>
                <a:spcPct val="95000"/>
              </a:lnSpc>
              <a:spcBef>
                <a:spcPts val="0"/>
              </a:spcBef>
              <a:spcAft>
                <a:spcPts val="0"/>
              </a:spcAft>
              <a:buSzPts val="1350"/>
              <a:buChar char="❖"/>
            </a:pPr>
            <a:r>
              <a:rPr lang="en" sz="1350"/>
              <a:t>Banking: Automated loan assessments</a:t>
            </a:r>
            <a:endParaRPr sz="1350"/>
          </a:p>
          <a:p>
            <a:pPr indent="-314325" lvl="0" marL="457200" rtl="0" algn="l">
              <a:lnSpc>
                <a:spcPct val="95000"/>
              </a:lnSpc>
              <a:spcBef>
                <a:spcPts val="0"/>
              </a:spcBef>
              <a:spcAft>
                <a:spcPts val="0"/>
              </a:spcAft>
              <a:buSzPts val="1350"/>
              <a:buChar char="❖"/>
            </a:pPr>
            <a:r>
              <a:rPr lang="en" sz="1350"/>
              <a:t>Investors: Identify undervalued properties</a:t>
            </a:r>
            <a:endParaRPr sz="1350"/>
          </a:p>
          <a:p>
            <a:pPr indent="-314325" lvl="0" marL="457200" rtl="0" algn="l">
              <a:lnSpc>
                <a:spcPct val="95000"/>
              </a:lnSpc>
              <a:spcBef>
                <a:spcPts val="0"/>
              </a:spcBef>
              <a:spcAft>
                <a:spcPts val="0"/>
              </a:spcAft>
              <a:buSzPts val="1350"/>
              <a:buChar char="❖"/>
            </a:pPr>
            <a:r>
              <a:rPr lang="en" sz="1350"/>
              <a:t>Market Analysis: Understand price drivers</a:t>
            </a:r>
            <a:endParaRPr sz="1350"/>
          </a:p>
          <a:p>
            <a:pPr indent="0" lvl="0" marL="0" rtl="0" algn="l">
              <a:lnSpc>
                <a:spcPct val="95000"/>
              </a:lnSpc>
              <a:spcBef>
                <a:spcPts val="1200"/>
              </a:spcBef>
              <a:spcAft>
                <a:spcPts val="0"/>
              </a:spcAft>
              <a:buSzPts val="275"/>
              <a:buNone/>
            </a:pPr>
            <a:r>
              <a:rPr b="1" lang="en" sz="1350"/>
              <a:t>Key Achievement:</a:t>
            </a:r>
            <a:endParaRPr b="1" sz="1350"/>
          </a:p>
          <a:p>
            <a:pPr indent="0" lvl="0" marL="0" rtl="0" algn="l">
              <a:lnSpc>
                <a:spcPct val="95000"/>
              </a:lnSpc>
              <a:spcBef>
                <a:spcPts val="1200"/>
              </a:spcBef>
              <a:spcAft>
                <a:spcPts val="1200"/>
              </a:spcAft>
              <a:buSzPts val="275"/>
              <a:buNone/>
            </a:pPr>
            <a:r>
              <a:rPr b="1" lang="en" sz="1350"/>
              <a:t>Transformed 81 messy</a:t>
            </a:r>
            <a:r>
              <a:rPr lang="en" sz="1350"/>
              <a:t> features </a:t>
            </a:r>
            <a:r>
              <a:rPr b="1" lang="en" sz="1350"/>
              <a:t>into 35 powerful predictors</a:t>
            </a:r>
            <a:r>
              <a:rPr lang="en" sz="1350"/>
              <a:t>, achieving </a:t>
            </a:r>
            <a:r>
              <a:rPr b="1" lang="en" sz="1350"/>
              <a:t>90.4% accuracy</a:t>
            </a:r>
            <a:r>
              <a:rPr lang="en" sz="1350"/>
              <a:t> with Gradient Boosting.</a:t>
            </a:r>
            <a:endParaRPr sz="13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30"/>
          <p:cNvPicPr preferRelativeResize="0"/>
          <p:nvPr/>
        </p:nvPicPr>
        <p:blipFill>
          <a:blip r:embed="rId3">
            <a:alphaModFix/>
          </a:blip>
          <a:stretch>
            <a:fillRect/>
          </a:stretch>
        </p:blipFill>
        <p:spPr>
          <a:xfrm>
            <a:off x="1719825" y="534488"/>
            <a:ext cx="5704349" cy="4074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Validation Results Export</a:t>
            </a:r>
            <a:endParaRPr/>
          </a:p>
        </p:txBody>
      </p:sp>
      <p:sp>
        <p:nvSpPr>
          <p:cNvPr id="189" name="Google Shape;189;p31"/>
          <p:cNvSpPr txBox="1"/>
          <p:nvPr>
            <p:ph idx="1" type="body"/>
          </p:nvPr>
        </p:nvSpPr>
        <p:spPr>
          <a:xfrm>
            <a:off x="311700" y="847675"/>
            <a:ext cx="4218900" cy="3987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350"/>
              <a:t>Detailed Performance Analysis</a:t>
            </a:r>
            <a:endParaRPr sz="1350"/>
          </a:p>
          <a:p>
            <a:pPr indent="0" lvl="0" marL="0" rtl="0" algn="l">
              <a:lnSpc>
                <a:spcPct val="95000"/>
              </a:lnSpc>
              <a:spcBef>
                <a:spcPts val="1200"/>
              </a:spcBef>
              <a:spcAft>
                <a:spcPts val="0"/>
              </a:spcAft>
              <a:buSzPts val="275"/>
              <a:buNone/>
            </a:pPr>
            <a:r>
              <a:rPr b="1" lang="en" sz="1350"/>
              <a:t>What We Exported:</a:t>
            </a:r>
            <a:endParaRPr b="1" sz="1350"/>
          </a:p>
          <a:p>
            <a:pPr indent="-314325" lvl="0" marL="457200" rtl="0" algn="l">
              <a:lnSpc>
                <a:spcPct val="95000"/>
              </a:lnSpc>
              <a:spcBef>
                <a:spcPts val="1200"/>
              </a:spcBef>
              <a:spcAft>
                <a:spcPts val="0"/>
              </a:spcAft>
              <a:buSzPts val="1350"/>
              <a:buChar char="❖"/>
            </a:pPr>
            <a:r>
              <a:rPr lang="en" sz="1350"/>
              <a:t>292 validation samples analyzed in detail</a:t>
            </a:r>
            <a:endParaRPr sz="1350"/>
          </a:p>
          <a:p>
            <a:pPr indent="-314325" lvl="0" marL="457200" rtl="0" algn="l">
              <a:lnSpc>
                <a:spcPct val="95000"/>
              </a:lnSpc>
              <a:spcBef>
                <a:spcPts val="0"/>
              </a:spcBef>
              <a:spcAft>
                <a:spcPts val="0"/>
              </a:spcAft>
              <a:buSzPts val="1350"/>
              <a:buChar char="❖"/>
            </a:pPr>
            <a:r>
              <a:rPr lang="en" sz="1350"/>
              <a:t>Per-sample predictions with comprehensive error metrics</a:t>
            </a:r>
            <a:endParaRPr sz="1350"/>
          </a:p>
          <a:p>
            <a:pPr indent="-314325" lvl="0" marL="457200" rtl="0" algn="l">
              <a:lnSpc>
                <a:spcPct val="95000"/>
              </a:lnSpc>
              <a:spcBef>
                <a:spcPts val="0"/>
              </a:spcBef>
              <a:spcAft>
                <a:spcPts val="0"/>
              </a:spcAft>
              <a:buSzPts val="1350"/>
              <a:buChar char="❖"/>
            </a:pPr>
            <a:r>
              <a:rPr lang="en" sz="1350"/>
              <a:t>Complete validation results saved to CSV for further analysis</a:t>
            </a:r>
            <a:endParaRPr sz="1350"/>
          </a:p>
          <a:p>
            <a:pPr indent="0" lvl="0" marL="0" rtl="0" algn="l">
              <a:lnSpc>
                <a:spcPct val="95000"/>
              </a:lnSpc>
              <a:spcBef>
                <a:spcPts val="1200"/>
              </a:spcBef>
              <a:spcAft>
                <a:spcPts val="0"/>
              </a:spcAft>
              <a:buSzPts val="275"/>
              <a:buNone/>
            </a:pPr>
            <a:r>
              <a:rPr b="1" lang="en" sz="1350"/>
              <a:t>Key Metrics in Export:</a:t>
            </a:r>
            <a:endParaRPr b="1" sz="1350"/>
          </a:p>
          <a:p>
            <a:pPr indent="-314325" lvl="0" marL="457200" rtl="0" algn="l">
              <a:lnSpc>
                <a:spcPct val="95000"/>
              </a:lnSpc>
              <a:spcBef>
                <a:spcPts val="1200"/>
              </a:spcBef>
              <a:spcAft>
                <a:spcPts val="0"/>
              </a:spcAft>
              <a:buSzPts val="1350"/>
              <a:buChar char="❖"/>
            </a:pPr>
            <a:r>
              <a:rPr lang="en" sz="1350"/>
              <a:t>Actual vs Predicted prices (log scale)</a:t>
            </a:r>
            <a:endParaRPr sz="1350"/>
          </a:p>
          <a:p>
            <a:pPr indent="-314325" lvl="0" marL="457200" rtl="0" algn="l">
              <a:lnSpc>
                <a:spcPct val="95000"/>
              </a:lnSpc>
              <a:spcBef>
                <a:spcPts val="0"/>
              </a:spcBef>
              <a:spcAft>
                <a:spcPts val="0"/>
              </a:spcAft>
              <a:buSzPts val="1350"/>
              <a:buChar char="❖"/>
            </a:pPr>
            <a:r>
              <a:rPr lang="en" sz="1350"/>
              <a:t>Error distribution (raw and absolute)</a:t>
            </a:r>
            <a:endParaRPr sz="1350"/>
          </a:p>
          <a:p>
            <a:pPr indent="-314325" lvl="0" marL="457200" rtl="0" algn="l">
              <a:lnSpc>
                <a:spcPct val="95000"/>
              </a:lnSpc>
              <a:spcBef>
                <a:spcPts val="0"/>
              </a:spcBef>
              <a:spcAft>
                <a:spcPts val="0"/>
              </a:spcAft>
              <a:buSzPts val="1350"/>
              <a:buChar char="❖"/>
            </a:pPr>
            <a:r>
              <a:rPr lang="en" sz="1350"/>
              <a:t>Percentage errors for interpretability</a:t>
            </a:r>
            <a:endParaRPr sz="1350"/>
          </a:p>
          <a:p>
            <a:pPr indent="-314325" lvl="0" marL="457200" rtl="0" algn="l">
              <a:lnSpc>
                <a:spcPct val="95000"/>
              </a:lnSpc>
              <a:spcBef>
                <a:spcPts val="0"/>
              </a:spcBef>
              <a:spcAft>
                <a:spcPts val="0"/>
              </a:spcAft>
              <a:buSzPts val="1350"/>
              <a:buChar char="❖"/>
            </a:pPr>
            <a:r>
              <a:rPr lang="en" sz="1350"/>
              <a:t>Absolute percentage errors for magnitude assessment</a:t>
            </a:r>
            <a:endParaRPr sz="1350"/>
          </a:p>
        </p:txBody>
      </p:sp>
      <p:sp>
        <p:nvSpPr>
          <p:cNvPr id="190" name="Google Shape;190;p31"/>
          <p:cNvSpPr txBox="1"/>
          <p:nvPr/>
        </p:nvSpPr>
        <p:spPr>
          <a:xfrm>
            <a:off x="4551550" y="1228675"/>
            <a:ext cx="4107900" cy="15231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b="1" lang="en" sz="1350">
                <a:solidFill>
                  <a:schemeClr val="accent3"/>
                </a:solidFill>
                <a:latin typeface="Proxima Nova"/>
                <a:ea typeface="Proxima Nova"/>
                <a:cs typeface="Proxima Nova"/>
                <a:sym typeface="Proxima Nova"/>
              </a:rPr>
              <a:t>Validation Insights:</a:t>
            </a:r>
            <a:endParaRPr b="1" sz="1350">
              <a:solidFill>
                <a:schemeClr val="accent3"/>
              </a:solidFill>
              <a:latin typeface="Proxima Nova"/>
              <a:ea typeface="Proxima Nova"/>
              <a:cs typeface="Proxima Nova"/>
              <a:sym typeface="Proxima Nova"/>
            </a:endParaRPr>
          </a:p>
          <a:p>
            <a:pPr indent="-314325" lvl="0" marL="457200" rtl="0" algn="l">
              <a:lnSpc>
                <a:spcPct val="95000"/>
              </a:lnSpc>
              <a:spcBef>
                <a:spcPts val="1200"/>
              </a:spcBef>
              <a:spcAft>
                <a:spcPts val="0"/>
              </a:spcAft>
              <a:buClr>
                <a:schemeClr val="accent3"/>
              </a:buClr>
              <a:buSzPts val="1350"/>
              <a:buFont typeface="Proxima Nova"/>
              <a:buChar char="❖"/>
            </a:pPr>
            <a:r>
              <a:rPr lang="en" sz="1350">
                <a:solidFill>
                  <a:schemeClr val="accent3"/>
                </a:solidFill>
                <a:latin typeface="Proxima Nova"/>
                <a:ea typeface="Proxima Nova"/>
                <a:cs typeface="Proxima Nova"/>
                <a:sym typeface="Proxima Nova"/>
              </a:rPr>
              <a:t>Model performance validated on 20% hold-out test set</a:t>
            </a:r>
            <a:endParaRPr sz="1350">
              <a:solidFill>
                <a:schemeClr val="accent3"/>
              </a:solidFill>
              <a:latin typeface="Proxima Nova"/>
              <a:ea typeface="Proxima Nova"/>
              <a:cs typeface="Proxima Nova"/>
              <a:sym typeface="Proxima Nova"/>
            </a:endParaRPr>
          </a:p>
          <a:p>
            <a:pPr indent="-314325" lvl="0" marL="457200" rtl="0" algn="l">
              <a:lnSpc>
                <a:spcPct val="95000"/>
              </a:lnSpc>
              <a:spcBef>
                <a:spcPts val="0"/>
              </a:spcBef>
              <a:spcAft>
                <a:spcPts val="0"/>
              </a:spcAft>
              <a:buClr>
                <a:schemeClr val="accent3"/>
              </a:buClr>
              <a:buSzPts val="1350"/>
              <a:buFont typeface="Proxima Nova"/>
              <a:buChar char="❖"/>
            </a:pPr>
            <a:r>
              <a:rPr lang="en" sz="1350">
                <a:solidFill>
                  <a:schemeClr val="accent3"/>
                </a:solidFill>
                <a:latin typeface="Proxima Nova"/>
                <a:ea typeface="Proxima Nova"/>
                <a:cs typeface="Proxima Nova"/>
                <a:sym typeface="Proxima Nova"/>
              </a:rPr>
              <a:t>Each prediction includes error breakdown</a:t>
            </a:r>
            <a:endParaRPr sz="1350">
              <a:solidFill>
                <a:schemeClr val="accent3"/>
              </a:solidFill>
              <a:latin typeface="Proxima Nova"/>
              <a:ea typeface="Proxima Nova"/>
              <a:cs typeface="Proxima Nova"/>
              <a:sym typeface="Proxima Nova"/>
            </a:endParaRPr>
          </a:p>
          <a:p>
            <a:pPr indent="-314325" lvl="0" marL="457200" rtl="0" algn="l">
              <a:lnSpc>
                <a:spcPct val="95000"/>
              </a:lnSpc>
              <a:spcBef>
                <a:spcPts val="0"/>
              </a:spcBef>
              <a:spcAft>
                <a:spcPts val="0"/>
              </a:spcAft>
              <a:buClr>
                <a:schemeClr val="accent3"/>
              </a:buClr>
              <a:buSzPts val="1350"/>
              <a:buFont typeface="Proxima Nova"/>
              <a:buChar char="❖"/>
            </a:pPr>
            <a:r>
              <a:rPr lang="en" sz="1350">
                <a:solidFill>
                  <a:schemeClr val="accent3"/>
                </a:solidFill>
                <a:latin typeface="Proxima Nova"/>
                <a:ea typeface="Proxima Nova"/>
                <a:cs typeface="Proxima Nova"/>
                <a:sym typeface="Proxima Nova"/>
              </a:rPr>
              <a:t>Enables detailed analysis of model behavior</a:t>
            </a:r>
            <a:endParaRPr sz="1350">
              <a:solidFill>
                <a:schemeClr val="accent3"/>
              </a:solidFill>
              <a:latin typeface="Proxima Nova"/>
              <a:ea typeface="Proxima Nova"/>
              <a:cs typeface="Proxima Nova"/>
              <a:sym typeface="Proxima Nova"/>
            </a:endParaRPr>
          </a:p>
          <a:p>
            <a:pPr indent="-314325" lvl="0" marL="457200" rtl="0" algn="l">
              <a:lnSpc>
                <a:spcPct val="95000"/>
              </a:lnSpc>
              <a:spcBef>
                <a:spcPts val="0"/>
              </a:spcBef>
              <a:spcAft>
                <a:spcPts val="0"/>
              </a:spcAft>
              <a:buClr>
                <a:schemeClr val="accent3"/>
              </a:buClr>
              <a:buSzPts val="1350"/>
              <a:buFont typeface="Proxima Nova"/>
              <a:buChar char="❖"/>
            </a:pPr>
            <a:r>
              <a:rPr lang="en" sz="1350">
                <a:solidFill>
                  <a:schemeClr val="accent3"/>
                </a:solidFill>
                <a:latin typeface="Proxima Nova"/>
                <a:ea typeface="Proxima Nova"/>
                <a:cs typeface="Proxima Nova"/>
                <a:sym typeface="Proxima Nova"/>
              </a:rPr>
              <a:t>Supports production deployment validation</a:t>
            </a:r>
            <a:endParaRPr sz="1350">
              <a:solidFill>
                <a:schemeClr val="accent3"/>
              </a:solidFill>
              <a:latin typeface="Proxima Nova"/>
              <a:ea typeface="Proxima Nova"/>
              <a:cs typeface="Proxima Nova"/>
              <a:sym typeface="Proxima Nova"/>
            </a:endParaRPr>
          </a:p>
        </p:txBody>
      </p:sp>
      <p:sp>
        <p:nvSpPr>
          <p:cNvPr id="191" name="Google Shape;191;p31"/>
          <p:cNvSpPr txBox="1"/>
          <p:nvPr/>
        </p:nvSpPr>
        <p:spPr>
          <a:xfrm>
            <a:off x="3962525" y="302675"/>
            <a:ext cx="315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t>
            </a:r>
            <a:r>
              <a:rPr lang="en">
                <a:solidFill>
                  <a:schemeClr val="dk2"/>
                </a:solidFill>
              </a:rPr>
              <a:t>house_price_validation_results.csv)</a:t>
            </a:r>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2"/>
          <p:cNvPicPr preferRelativeResize="0"/>
          <p:nvPr/>
        </p:nvPicPr>
        <p:blipFill>
          <a:blip r:embed="rId3">
            <a:alphaModFix/>
          </a:blip>
          <a:stretch>
            <a:fillRect/>
          </a:stretch>
        </p:blipFill>
        <p:spPr>
          <a:xfrm>
            <a:off x="1719012" y="265375"/>
            <a:ext cx="5645700" cy="3226126"/>
          </a:xfrm>
          <a:prstGeom prst="rect">
            <a:avLst/>
          </a:prstGeom>
          <a:noFill/>
          <a:ln>
            <a:noFill/>
          </a:ln>
        </p:spPr>
      </p:pic>
      <p:sp>
        <p:nvSpPr>
          <p:cNvPr id="197" name="Google Shape;197;p32"/>
          <p:cNvSpPr txBox="1"/>
          <p:nvPr/>
        </p:nvSpPr>
        <p:spPr>
          <a:xfrm>
            <a:off x="701575" y="3526100"/>
            <a:ext cx="77931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666666"/>
                </a:solidFill>
              </a:rPr>
              <a:t>Key Findings from Validation:</a:t>
            </a:r>
            <a:endParaRPr b="1" sz="1300">
              <a:solidFill>
                <a:srgbClr val="666666"/>
              </a:solidFill>
            </a:endParaRPr>
          </a:p>
          <a:p>
            <a:pPr indent="0" lvl="0" marL="0" rtl="0" algn="l">
              <a:spcBef>
                <a:spcPts val="0"/>
              </a:spcBef>
              <a:spcAft>
                <a:spcPts val="0"/>
              </a:spcAft>
              <a:buNone/>
            </a:pPr>
            <a:r>
              <a:t/>
            </a:r>
            <a:endParaRPr b="1" sz="1300">
              <a:solidFill>
                <a:srgbClr val="666666"/>
              </a:solidFill>
            </a:endParaRPr>
          </a:p>
          <a:p>
            <a:pPr indent="-311150" lvl="0" marL="457200" rtl="0" algn="l">
              <a:spcBef>
                <a:spcPts val="0"/>
              </a:spcBef>
              <a:spcAft>
                <a:spcPts val="0"/>
              </a:spcAft>
              <a:buClr>
                <a:srgbClr val="666666"/>
              </a:buClr>
              <a:buSzPts val="1300"/>
              <a:buChar char="❖"/>
            </a:pPr>
            <a:r>
              <a:rPr lang="en" sz="1300">
                <a:solidFill>
                  <a:srgbClr val="666666"/>
                </a:solidFill>
              </a:rPr>
              <a:t>Mean Absolute Percentage Error: </a:t>
            </a:r>
            <a:r>
              <a:rPr b="1" lang="en" sz="1300">
                <a:solidFill>
                  <a:srgbClr val="666666"/>
                </a:solidFill>
              </a:rPr>
              <a:t>0.76%</a:t>
            </a:r>
            <a:r>
              <a:rPr lang="en" sz="1300">
                <a:solidFill>
                  <a:srgbClr val="666666"/>
                </a:solidFill>
              </a:rPr>
              <a:t>: Excellent average accuracy</a:t>
            </a:r>
            <a:endParaRPr sz="1300">
              <a:solidFill>
                <a:srgbClr val="666666"/>
              </a:solidFill>
            </a:endParaRPr>
          </a:p>
          <a:p>
            <a:pPr indent="-311150" lvl="0" marL="457200" rtl="0" algn="l">
              <a:spcBef>
                <a:spcPts val="0"/>
              </a:spcBef>
              <a:spcAft>
                <a:spcPts val="0"/>
              </a:spcAft>
              <a:buClr>
                <a:srgbClr val="666666"/>
              </a:buClr>
              <a:buSzPts val="1300"/>
              <a:buChar char="❖"/>
            </a:pPr>
            <a:r>
              <a:rPr lang="en" sz="1300">
                <a:solidFill>
                  <a:srgbClr val="666666"/>
                </a:solidFill>
              </a:rPr>
              <a:t>Median Absolute Percentage Error: </a:t>
            </a:r>
            <a:r>
              <a:rPr b="1" lang="en" sz="1300">
                <a:solidFill>
                  <a:srgbClr val="666666"/>
                </a:solidFill>
              </a:rPr>
              <a:t>0.54%</a:t>
            </a:r>
            <a:r>
              <a:rPr lang="en" sz="1300">
                <a:solidFill>
                  <a:srgbClr val="666666"/>
                </a:solidFill>
              </a:rPr>
              <a:t>: Most predictions are highly accurate</a:t>
            </a:r>
            <a:endParaRPr sz="1300">
              <a:solidFill>
                <a:srgbClr val="666666"/>
              </a:solidFill>
            </a:endParaRPr>
          </a:p>
          <a:p>
            <a:pPr indent="-311150" lvl="0" marL="457200" rtl="0" algn="l">
              <a:spcBef>
                <a:spcPts val="0"/>
              </a:spcBef>
              <a:spcAft>
                <a:spcPts val="0"/>
              </a:spcAft>
              <a:buClr>
                <a:srgbClr val="666666"/>
              </a:buClr>
              <a:buSzPts val="1300"/>
              <a:buChar char="❖"/>
            </a:pPr>
            <a:r>
              <a:rPr b="1" lang="en" sz="1300">
                <a:solidFill>
                  <a:srgbClr val="666666"/>
                </a:solidFill>
              </a:rPr>
              <a:t>95th</a:t>
            </a:r>
            <a:r>
              <a:rPr lang="en" sz="1300">
                <a:solidFill>
                  <a:srgbClr val="666666"/>
                </a:solidFill>
              </a:rPr>
              <a:t> Percentile: </a:t>
            </a:r>
            <a:r>
              <a:rPr b="1" lang="en" sz="1300">
                <a:solidFill>
                  <a:srgbClr val="666666"/>
                </a:solidFill>
              </a:rPr>
              <a:t>2.35% - 95% </a:t>
            </a:r>
            <a:r>
              <a:rPr lang="en" sz="1300">
                <a:solidFill>
                  <a:srgbClr val="666666"/>
                </a:solidFill>
              </a:rPr>
              <a:t>of predictions </a:t>
            </a:r>
            <a:r>
              <a:rPr b="1" lang="en" sz="1300">
                <a:solidFill>
                  <a:srgbClr val="666666"/>
                </a:solidFill>
              </a:rPr>
              <a:t>within 2.35% error</a:t>
            </a:r>
            <a:endParaRPr b="1" sz="1300">
              <a:solidFill>
                <a:srgbClr val="666666"/>
              </a:solidFill>
            </a:endParaRPr>
          </a:p>
          <a:p>
            <a:pPr indent="-311150" lvl="0" marL="457200" rtl="0" algn="l">
              <a:spcBef>
                <a:spcPts val="0"/>
              </a:spcBef>
              <a:spcAft>
                <a:spcPts val="0"/>
              </a:spcAft>
              <a:buClr>
                <a:srgbClr val="666666"/>
              </a:buClr>
              <a:buSzPts val="1300"/>
              <a:buChar char="❖"/>
            </a:pPr>
            <a:r>
              <a:rPr lang="en" sz="1300">
                <a:solidFill>
                  <a:srgbClr val="666666"/>
                </a:solidFill>
              </a:rPr>
              <a:t>Max Error: </a:t>
            </a:r>
            <a:r>
              <a:rPr b="1" lang="en" sz="1300">
                <a:solidFill>
                  <a:srgbClr val="666666"/>
                </a:solidFill>
              </a:rPr>
              <a:t>4.66%</a:t>
            </a:r>
            <a:r>
              <a:rPr lang="en" sz="1300">
                <a:solidFill>
                  <a:srgbClr val="666666"/>
                </a:solidFill>
              </a:rPr>
              <a:t>: Worst case scenario still </a:t>
            </a:r>
            <a:r>
              <a:rPr b="1" lang="en" sz="1300">
                <a:solidFill>
                  <a:srgbClr val="666666"/>
                </a:solidFill>
              </a:rPr>
              <a:t>under 5% error</a:t>
            </a:r>
            <a:endParaRPr b="1" sz="1300">
              <a:solidFill>
                <a:srgbClr val="66666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03" name="Google Shape;203;p33"/>
          <p:cNvSpPr txBox="1"/>
          <p:nvPr>
            <p:ph idx="1" type="body"/>
          </p:nvPr>
        </p:nvSpPr>
        <p:spPr>
          <a:xfrm>
            <a:off x="311700" y="9238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358"/>
              <a:buNone/>
            </a:pPr>
            <a:r>
              <a:rPr lang="en" sz="1385"/>
              <a:t>The Story in Numbers</a:t>
            </a:r>
            <a:endParaRPr sz="1385"/>
          </a:p>
          <a:p>
            <a:pPr indent="0" lvl="0" marL="0" rtl="0" algn="l">
              <a:lnSpc>
                <a:spcPct val="95000"/>
              </a:lnSpc>
              <a:spcBef>
                <a:spcPts val="1200"/>
              </a:spcBef>
              <a:spcAft>
                <a:spcPts val="0"/>
              </a:spcAft>
              <a:buSzPts val="358"/>
              <a:buNone/>
            </a:pPr>
            <a:r>
              <a:rPr b="1" lang="en" sz="1385"/>
              <a:t>Project Summary:</a:t>
            </a:r>
            <a:endParaRPr b="1" sz="1385"/>
          </a:p>
          <a:p>
            <a:pPr indent="-316547" lvl="0" marL="457200" rtl="0" algn="l">
              <a:lnSpc>
                <a:spcPct val="95000"/>
              </a:lnSpc>
              <a:spcBef>
                <a:spcPts val="1200"/>
              </a:spcBef>
              <a:spcAft>
                <a:spcPts val="0"/>
              </a:spcAft>
              <a:buSzPts val="1385"/>
              <a:buChar char="❖"/>
            </a:pPr>
            <a:r>
              <a:rPr lang="en" sz="1385"/>
              <a:t>460 houses analyzed</a:t>
            </a:r>
            <a:endParaRPr sz="1385"/>
          </a:p>
          <a:p>
            <a:pPr indent="-316547" lvl="0" marL="457200" rtl="0" algn="l">
              <a:lnSpc>
                <a:spcPct val="95000"/>
              </a:lnSpc>
              <a:spcBef>
                <a:spcPts val="0"/>
              </a:spcBef>
              <a:spcAft>
                <a:spcPts val="0"/>
              </a:spcAft>
              <a:buSzPts val="1385"/>
              <a:buChar char="❖"/>
            </a:pPr>
            <a:r>
              <a:rPr lang="en" sz="1385"/>
              <a:t>81 features → 35 selected → 20 PCA components</a:t>
            </a:r>
            <a:endParaRPr sz="1385"/>
          </a:p>
          <a:p>
            <a:pPr indent="-316547" lvl="0" marL="457200" rtl="0" algn="l">
              <a:lnSpc>
                <a:spcPct val="95000"/>
              </a:lnSpc>
              <a:spcBef>
                <a:spcPts val="0"/>
              </a:spcBef>
              <a:spcAft>
                <a:spcPts val="0"/>
              </a:spcAft>
              <a:buSzPts val="1385"/>
              <a:buChar char="❖"/>
            </a:pPr>
            <a:r>
              <a:rPr lang="en" sz="1385"/>
              <a:t>4 models tested</a:t>
            </a:r>
            <a:endParaRPr sz="1385"/>
          </a:p>
          <a:p>
            <a:pPr indent="-316547" lvl="0" marL="457200" rtl="0" algn="l">
              <a:lnSpc>
                <a:spcPct val="95000"/>
              </a:lnSpc>
              <a:spcBef>
                <a:spcPts val="0"/>
              </a:spcBef>
              <a:spcAft>
                <a:spcPts val="0"/>
              </a:spcAft>
              <a:buSzPts val="1385"/>
              <a:buChar char="❖"/>
            </a:pPr>
            <a:r>
              <a:rPr lang="en" sz="1385"/>
              <a:t>90.4% accuracy achieved</a:t>
            </a:r>
            <a:endParaRPr sz="1385"/>
          </a:p>
          <a:p>
            <a:pPr indent="-316547" lvl="0" marL="457200" rtl="0" algn="l">
              <a:lnSpc>
                <a:spcPct val="95000"/>
              </a:lnSpc>
              <a:spcBef>
                <a:spcPts val="0"/>
              </a:spcBef>
              <a:spcAft>
                <a:spcPts val="0"/>
              </a:spcAft>
              <a:buSzPts val="1385"/>
              <a:buChar char="❖"/>
            </a:pPr>
            <a:r>
              <a:rPr lang="en" sz="1385"/>
              <a:t>Gradient Boosting as best model</a:t>
            </a:r>
            <a:endParaRPr sz="1385"/>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2472600" y="1968900"/>
            <a:ext cx="4198800" cy="75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320">
                <a:solidFill>
                  <a:srgbClr val="666666"/>
                </a:solidFill>
              </a:rPr>
              <a:t>Thank you!</a:t>
            </a:r>
            <a:endParaRPr b="1" sz="3320">
              <a:solidFill>
                <a:srgbClr val="66666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Details</a:t>
            </a:r>
            <a:endParaRPr/>
          </a:p>
        </p:txBody>
      </p:sp>
      <p:sp>
        <p:nvSpPr>
          <p:cNvPr id="214" name="Google Shape;21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t>Team Members</a:t>
            </a:r>
            <a:endParaRPr b="1" sz="1500"/>
          </a:p>
          <a:p>
            <a:pPr indent="-323850" lvl="0" marL="457200" rtl="0" algn="l">
              <a:spcBef>
                <a:spcPts val="1200"/>
              </a:spcBef>
              <a:spcAft>
                <a:spcPts val="0"/>
              </a:spcAft>
              <a:buSzPts val="1500"/>
              <a:buAutoNum type="arabicPeriod"/>
            </a:pPr>
            <a:r>
              <a:rPr lang="en" sz="1500"/>
              <a:t>Shivansh Tiwari</a:t>
            </a:r>
            <a:endParaRPr sz="1500"/>
          </a:p>
          <a:p>
            <a:pPr indent="-323850" lvl="0" marL="457200" rtl="0" algn="l">
              <a:spcBef>
                <a:spcPts val="0"/>
              </a:spcBef>
              <a:spcAft>
                <a:spcPts val="0"/>
              </a:spcAft>
              <a:buSzPts val="1500"/>
              <a:buAutoNum type="arabicPeriod"/>
            </a:pPr>
            <a:r>
              <a:rPr lang="en" sz="1500"/>
              <a:t>Pathaneni Gangotri</a:t>
            </a:r>
            <a:endParaRPr sz="1500"/>
          </a:p>
          <a:p>
            <a:pPr indent="-323850" lvl="0" marL="457200" rtl="0" algn="l">
              <a:spcBef>
                <a:spcPts val="0"/>
              </a:spcBef>
              <a:spcAft>
                <a:spcPts val="0"/>
              </a:spcAft>
              <a:buSzPts val="1500"/>
              <a:buAutoNum type="arabicPeriod"/>
            </a:pPr>
            <a:r>
              <a:rPr lang="en" sz="1500"/>
              <a:t>Sonkar</a:t>
            </a:r>
            <a:r>
              <a:rPr lang="en" sz="1500"/>
              <a:t> Vedant Rajesh Ranjeeta</a:t>
            </a:r>
            <a:endParaRPr sz="1500"/>
          </a:p>
          <a:p>
            <a:pPr indent="-323850" lvl="0" marL="457200" rtl="0" algn="l">
              <a:spcBef>
                <a:spcPts val="0"/>
              </a:spcBef>
              <a:spcAft>
                <a:spcPts val="0"/>
              </a:spcAft>
              <a:buSzPts val="1500"/>
              <a:buAutoNum type="arabicPeriod"/>
            </a:pPr>
            <a:r>
              <a:rPr lang="en" sz="1500"/>
              <a:t>Himanshu Soni</a:t>
            </a:r>
            <a:endParaRPr sz="1500"/>
          </a:p>
          <a:p>
            <a:pPr indent="0" lvl="0" marL="0" rtl="0" algn="l">
              <a:spcBef>
                <a:spcPts val="1200"/>
              </a:spcBef>
              <a:spcAft>
                <a:spcPts val="0"/>
              </a:spcAft>
              <a:buNone/>
            </a:pPr>
            <a:r>
              <a:rPr b="1" lang="en" sz="1500"/>
              <a:t>Team Supervisor</a:t>
            </a:r>
            <a:endParaRPr b="1" sz="1500"/>
          </a:p>
          <a:p>
            <a:pPr indent="-323850" lvl="0" marL="457200" rtl="0" algn="l">
              <a:spcBef>
                <a:spcPts val="1200"/>
              </a:spcBef>
              <a:spcAft>
                <a:spcPts val="0"/>
              </a:spcAft>
              <a:buSzPts val="1500"/>
              <a:buChar char="●"/>
            </a:pPr>
            <a:r>
              <a:rPr lang="en" sz="1500"/>
              <a:t>Utkarsh Khare</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